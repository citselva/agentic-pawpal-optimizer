
<file path=[Content_Types].xml><?xml version="1.0" encoding="utf-8"?>
<Types xmlns="http://schemas.openxmlformats.org/package/2006/content-types">
  <Default Extension="gif" ContentType="image/gi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9" d="100"/>
          <a:sy n="109" d="100"/>
        </p:scale>
        <p:origin x="706"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22843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hyperlink" Target="https://github.com/citselva/agentic-pawpal-optimizer"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5"/>
        </a:solidFill>
        <a:effectLst/>
      </p:bgPr>
    </p:bg>
    <p:spTree>
      <p:nvGrpSpPr>
        <p:cNvPr id="1" name=""/>
        <p:cNvGrpSpPr/>
        <p:nvPr/>
      </p:nvGrpSpPr>
      <p:grpSpPr>
        <a:xfrm>
          <a:off x="0" y="0"/>
          <a:ext cx="0" cy="0"/>
          <a:chOff x="0" y="0"/>
          <a:chExt cx="0" cy="0"/>
        </a:xfrm>
      </p:grpSpPr>
      <p:sp>
        <p:nvSpPr>
          <p:cNvPr id="2" name="Shape 0"/>
          <p:cNvSpPr/>
          <p:nvPr/>
        </p:nvSpPr>
        <p:spPr>
          <a:xfrm>
            <a:off x="0" y="0"/>
            <a:ext cx="3520440" cy="5143500"/>
          </a:xfrm>
          <a:prstGeom prst="rect">
            <a:avLst/>
          </a:prstGeom>
          <a:solidFill>
            <a:srgbClr val="FF6B35"/>
          </a:solidFill>
          <a:ln w="12700">
            <a:solidFill>
              <a:srgbClr val="FF6B35"/>
            </a:solidFill>
            <a:prstDash val="solid"/>
          </a:ln>
        </p:spPr>
      </p:sp>
      <p:sp>
        <p:nvSpPr>
          <p:cNvPr id="3" name="Shape 1"/>
          <p:cNvSpPr/>
          <p:nvPr/>
        </p:nvSpPr>
        <p:spPr>
          <a:xfrm>
            <a:off x="0" y="4023360"/>
            <a:ext cx="3520440" cy="1120140"/>
          </a:xfrm>
          <a:prstGeom prst="rect">
            <a:avLst/>
          </a:prstGeom>
          <a:solidFill>
            <a:srgbClr val="CC4A15"/>
          </a:solidFill>
          <a:ln w="12700">
            <a:solidFill>
              <a:srgbClr val="CC4A15"/>
            </a:solidFill>
            <a:prstDash val="solid"/>
          </a:ln>
        </p:spPr>
      </p:sp>
      <p:sp>
        <p:nvSpPr>
          <p:cNvPr id="4" name="Text 2"/>
          <p:cNvSpPr/>
          <p:nvPr/>
        </p:nvSpPr>
        <p:spPr>
          <a:xfrm>
            <a:off x="182880" y="228600"/>
            <a:ext cx="3154680" cy="1737360"/>
          </a:xfrm>
          <a:prstGeom prst="rect">
            <a:avLst/>
          </a:prstGeom>
          <a:noFill/>
          <a:ln/>
        </p:spPr>
        <p:txBody>
          <a:bodyPr wrap="square" rtlCol="0" anchor="ctr"/>
          <a:lstStyle/>
          <a:p>
            <a:pPr marL="0" indent="0" algn="ctr">
              <a:buNone/>
            </a:pPr>
            <a:r>
              <a:rPr lang="en-US" sz="10000" dirty="0">
                <a:solidFill>
                  <a:srgbClr val="000000"/>
                </a:solidFill>
              </a:rPr>
              <a:t>🐾</a:t>
            </a:r>
            <a:endParaRPr lang="en-US" sz="10000" dirty="0"/>
          </a:p>
        </p:txBody>
      </p:sp>
      <p:sp>
        <p:nvSpPr>
          <p:cNvPr id="5" name="Text 3"/>
          <p:cNvSpPr/>
          <p:nvPr/>
        </p:nvSpPr>
        <p:spPr>
          <a:xfrm>
            <a:off x="91440" y="4114800"/>
            <a:ext cx="3337560" cy="329184"/>
          </a:xfrm>
          <a:prstGeom prst="rect">
            <a:avLst/>
          </a:prstGeom>
          <a:noFill/>
          <a:ln/>
        </p:spPr>
        <p:txBody>
          <a:bodyPr wrap="square" rtlCol="0" anchor="ctr"/>
          <a:lstStyle/>
          <a:p>
            <a:pPr marL="0" indent="0" algn="ctr">
              <a:buNone/>
            </a:pPr>
            <a:r>
              <a:rPr lang="en-US" sz="800" b="1" kern="0" spc="200" dirty="0">
                <a:solidFill>
                  <a:srgbClr val="FFFFFF"/>
                </a:solidFill>
                <a:latin typeface="Calibri" pitchFamily="34" charset="0"/>
                <a:ea typeface="Calibri" pitchFamily="34" charset="-122"/>
                <a:cs typeface="Calibri" pitchFamily="34" charset="-120"/>
              </a:rPr>
              <a:t>EVOLVED FROM PAWPAL</a:t>
            </a:r>
            <a:endParaRPr lang="en-US" sz="800" dirty="0"/>
          </a:p>
        </p:txBody>
      </p:sp>
      <p:sp>
        <p:nvSpPr>
          <p:cNvPr id="6" name="Text 4"/>
          <p:cNvSpPr/>
          <p:nvPr/>
        </p:nvSpPr>
        <p:spPr>
          <a:xfrm>
            <a:off x="91440" y="4443984"/>
            <a:ext cx="3337560" cy="292608"/>
          </a:xfrm>
          <a:prstGeom prst="rect">
            <a:avLst/>
          </a:prstGeom>
          <a:noFill/>
          <a:ln/>
        </p:spPr>
        <p:txBody>
          <a:bodyPr wrap="square" rtlCol="0" anchor="ctr"/>
          <a:lstStyle/>
          <a:p>
            <a:pPr marL="0" indent="0" algn="ctr">
              <a:buNone/>
            </a:pPr>
            <a:r>
              <a:rPr lang="en-US" sz="950" dirty="0">
                <a:solidFill>
                  <a:srgbClr val="FFCCAA"/>
                </a:solidFill>
                <a:latin typeface="Calibri" pitchFamily="34" charset="0"/>
                <a:ea typeface="Calibri" pitchFamily="34" charset="-122"/>
                <a:cs typeface="Calibri" pitchFamily="34" charset="-120"/>
              </a:rPr>
              <a:t>Starter → Full Agentic System</a:t>
            </a:r>
            <a:endParaRPr lang="en-US" sz="950" dirty="0"/>
          </a:p>
        </p:txBody>
      </p:sp>
      <p:sp>
        <p:nvSpPr>
          <p:cNvPr id="7" name="Text 5"/>
          <p:cNvSpPr/>
          <p:nvPr/>
        </p:nvSpPr>
        <p:spPr>
          <a:xfrm>
            <a:off x="91440" y="4754880"/>
            <a:ext cx="3337560" cy="274320"/>
          </a:xfrm>
          <a:prstGeom prst="rect">
            <a:avLst/>
          </a:prstGeom>
          <a:noFill/>
          <a:ln/>
        </p:spPr>
        <p:txBody>
          <a:bodyPr wrap="square" rtlCol="0" anchor="ctr"/>
          <a:lstStyle/>
          <a:p>
            <a:pPr marL="0" indent="0" algn="ctr">
              <a:buNone/>
            </a:pPr>
            <a:r>
              <a:rPr lang="en-US" sz="850" dirty="0">
                <a:solidFill>
                  <a:srgbClr val="FFCCAA"/>
                </a:solidFill>
                <a:latin typeface="Calibri" pitchFamily="34" charset="0"/>
                <a:ea typeface="Calibri" pitchFamily="34" charset="-122"/>
                <a:cs typeface="Calibri" pitchFamily="34" charset="-120"/>
              </a:rPr>
              <a:t>ENGINEER'S PITCH  ·  5 Minutes</a:t>
            </a:r>
            <a:endParaRPr lang="en-US" sz="850" dirty="0"/>
          </a:p>
        </p:txBody>
      </p:sp>
      <p:sp>
        <p:nvSpPr>
          <p:cNvPr id="8" name="Text 6"/>
          <p:cNvSpPr/>
          <p:nvPr/>
        </p:nvSpPr>
        <p:spPr>
          <a:xfrm>
            <a:off x="3749040" y="411480"/>
            <a:ext cx="5120640" cy="1097280"/>
          </a:xfrm>
          <a:prstGeom prst="rect">
            <a:avLst/>
          </a:prstGeom>
          <a:noFill/>
          <a:ln/>
        </p:spPr>
        <p:txBody>
          <a:bodyPr wrap="square" rtlCol="0" anchor="ctr"/>
          <a:lstStyle/>
          <a:p>
            <a:pPr marL="0" indent="0">
              <a:buNone/>
            </a:pPr>
            <a:r>
              <a:rPr lang="en-US" sz="5400" b="1" dirty="0">
                <a:solidFill>
                  <a:srgbClr val="FFFFFF"/>
                </a:solidFill>
                <a:latin typeface="Georgia" pitchFamily="34" charset="0"/>
                <a:ea typeface="Georgia" pitchFamily="34" charset="-122"/>
                <a:cs typeface="Georgia" pitchFamily="34" charset="-120"/>
              </a:rPr>
              <a:t>PawPal+</a:t>
            </a:r>
            <a:endParaRPr lang="en-US" sz="5400" dirty="0"/>
          </a:p>
        </p:txBody>
      </p:sp>
      <p:sp>
        <p:nvSpPr>
          <p:cNvPr id="9" name="Text 7"/>
          <p:cNvSpPr/>
          <p:nvPr/>
        </p:nvSpPr>
        <p:spPr>
          <a:xfrm>
            <a:off x="3749040" y="1481328"/>
            <a:ext cx="5120640" cy="475488"/>
          </a:xfrm>
          <a:prstGeom prst="rect">
            <a:avLst/>
          </a:prstGeom>
          <a:noFill/>
          <a:ln/>
        </p:spPr>
        <p:txBody>
          <a:bodyPr wrap="square" rtlCol="0" anchor="ctr"/>
          <a:lstStyle/>
          <a:p>
            <a:pPr marL="0" indent="0">
              <a:buNone/>
            </a:pPr>
            <a:r>
              <a:rPr lang="en-US" sz="1900" i="1" dirty="0">
                <a:solidFill>
                  <a:srgbClr val="2EC4B6"/>
                </a:solidFill>
                <a:latin typeface="Georgia" pitchFamily="34" charset="0"/>
                <a:ea typeface="Georgia" pitchFamily="34" charset="-122"/>
                <a:cs typeface="Georgia" pitchFamily="34" charset="-120"/>
              </a:rPr>
              <a:t>Agentic Pet Care Schedule Optimizer</a:t>
            </a:r>
            <a:endParaRPr lang="en-US" sz="1900" dirty="0"/>
          </a:p>
        </p:txBody>
      </p:sp>
      <p:sp>
        <p:nvSpPr>
          <p:cNvPr id="10" name="Shape 8"/>
          <p:cNvSpPr/>
          <p:nvPr/>
        </p:nvSpPr>
        <p:spPr>
          <a:xfrm>
            <a:off x="3749040" y="2084832"/>
            <a:ext cx="5120640" cy="0"/>
          </a:xfrm>
          <a:prstGeom prst="line">
            <a:avLst/>
          </a:prstGeom>
          <a:noFill/>
          <a:ln w="19050">
            <a:solidFill>
              <a:srgbClr val="2A4070"/>
            </a:solidFill>
            <a:prstDash val="solid"/>
          </a:ln>
        </p:spPr>
      </p:sp>
      <p:sp>
        <p:nvSpPr>
          <p:cNvPr id="11" name="Text 9"/>
          <p:cNvSpPr/>
          <p:nvPr/>
        </p:nvSpPr>
        <p:spPr>
          <a:xfrm>
            <a:off x="3749040" y="2240280"/>
            <a:ext cx="1234440" cy="621792"/>
          </a:xfrm>
          <a:prstGeom prst="rect">
            <a:avLst/>
          </a:prstGeom>
          <a:noFill/>
          <a:ln/>
        </p:spPr>
        <p:txBody>
          <a:bodyPr wrap="square" rtlCol="0" anchor="ctr"/>
          <a:lstStyle/>
          <a:p>
            <a:pPr marL="0" indent="0">
              <a:buNone/>
            </a:pPr>
            <a:r>
              <a:rPr lang="en-US" sz="3000" b="1" dirty="0">
                <a:solidFill>
                  <a:srgbClr val="FF6B35"/>
                </a:solidFill>
                <a:latin typeface="Georgia" pitchFamily="34" charset="0"/>
                <a:ea typeface="Georgia" pitchFamily="34" charset="-122"/>
                <a:cs typeface="Georgia" pitchFamily="34" charset="-120"/>
              </a:rPr>
              <a:t>219</a:t>
            </a:r>
            <a:endParaRPr lang="en-US" sz="3000" dirty="0"/>
          </a:p>
        </p:txBody>
      </p:sp>
      <p:sp>
        <p:nvSpPr>
          <p:cNvPr id="12" name="Text 10"/>
          <p:cNvSpPr/>
          <p:nvPr/>
        </p:nvSpPr>
        <p:spPr>
          <a:xfrm>
            <a:off x="3749040" y="2852928"/>
            <a:ext cx="1234440" cy="34747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Tests Passing</a:t>
            </a:r>
            <a:endParaRPr lang="en-US" sz="850" dirty="0"/>
          </a:p>
        </p:txBody>
      </p:sp>
      <p:sp>
        <p:nvSpPr>
          <p:cNvPr id="13" name="Text 11"/>
          <p:cNvSpPr/>
          <p:nvPr/>
        </p:nvSpPr>
        <p:spPr>
          <a:xfrm>
            <a:off x="5029200" y="2240280"/>
            <a:ext cx="1234440" cy="621792"/>
          </a:xfrm>
          <a:prstGeom prst="rect">
            <a:avLst/>
          </a:prstGeom>
          <a:noFill/>
          <a:ln/>
        </p:spPr>
        <p:txBody>
          <a:bodyPr wrap="square" rtlCol="0" anchor="ctr"/>
          <a:lstStyle/>
          <a:p>
            <a:pPr marL="0" indent="0">
              <a:buNone/>
            </a:pPr>
            <a:r>
              <a:rPr lang="en-US" sz="3000" b="1" dirty="0">
                <a:solidFill>
                  <a:srgbClr val="FF6B35"/>
                </a:solidFill>
                <a:latin typeface="Georgia" pitchFamily="34" charset="0"/>
                <a:ea typeface="Georgia" pitchFamily="34" charset="-122"/>
                <a:cs typeface="Georgia" pitchFamily="34" charset="-120"/>
              </a:rPr>
              <a:t>0</a:t>
            </a:r>
            <a:endParaRPr lang="en-US" sz="3000" dirty="0"/>
          </a:p>
        </p:txBody>
      </p:sp>
      <p:sp>
        <p:nvSpPr>
          <p:cNvPr id="14" name="Text 12"/>
          <p:cNvSpPr/>
          <p:nvPr/>
        </p:nvSpPr>
        <p:spPr>
          <a:xfrm>
            <a:off x="5029200" y="2852928"/>
            <a:ext cx="1234440" cy="34747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Failures</a:t>
            </a:r>
            <a:endParaRPr lang="en-US" sz="850" dirty="0"/>
          </a:p>
        </p:txBody>
      </p:sp>
      <p:sp>
        <p:nvSpPr>
          <p:cNvPr id="15" name="Text 13"/>
          <p:cNvSpPr/>
          <p:nvPr/>
        </p:nvSpPr>
        <p:spPr>
          <a:xfrm>
            <a:off x="6309360" y="2240280"/>
            <a:ext cx="1234440" cy="621792"/>
          </a:xfrm>
          <a:prstGeom prst="rect">
            <a:avLst/>
          </a:prstGeom>
          <a:noFill/>
          <a:ln/>
        </p:spPr>
        <p:txBody>
          <a:bodyPr wrap="square" rtlCol="0" anchor="ctr"/>
          <a:lstStyle/>
          <a:p>
            <a:pPr marL="0" indent="0">
              <a:buNone/>
            </a:pPr>
            <a:r>
              <a:rPr lang="en-US" sz="3000" b="1" dirty="0">
                <a:solidFill>
                  <a:srgbClr val="FF6B35"/>
                </a:solidFill>
                <a:latin typeface="Georgia" pitchFamily="34" charset="0"/>
                <a:ea typeface="Georgia" pitchFamily="34" charset="-122"/>
                <a:cs typeface="Georgia" pitchFamily="34" charset="-120"/>
              </a:rPr>
              <a:t>2</a:t>
            </a:r>
            <a:endParaRPr lang="en-US" sz="3000" dirty="0"/>
          </a:p>
        </p:txBody>
      </p:sp>
      <p:sp>
        <p:nvSpPr>
          <p:cNvPr id="16" name="Text 14"/>
          <p:cNvSpPr/>
          <p:nvPr/>
        </p:nvSpPr>
        <p:spPr>
          <a:xfrm>
            <a:off x="6309360" y="2852928"/>
            <a:ext cx="1234440" cy="34747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Claude Models</a:t>
            </a:r>
            <a:endParaRPr lang="en-US" sz="850" dirty="0"/>
          </a:p>
        </p:txBody>
      </p:sp>
      <p:sp>
        <p:nvSpPr>
          <p:cNvPr id="17" name="Text 15"/>
          <p:cNvSpPr/>
          <p:nvPr/>
        </p:nvSpPr>
        <p:spPr>
          <a:xfrm>
            <a:off x="7589520" y="2240280"/>
            <a:ext cx="1234440" cy="621792"/>
          </a:xfrm>
          <a:prstGeom prst="rect">
            <a:avLst/>
          </a:prstGeom>
          <a:noFill/>
          <a:ln/>
        </p:spPr>
        <p:txBody>
          <a:bodyPr wrap="square" rtlCol="0" anchor="ctr"/>
          <a:lstStyle/>
          <a:p>
            <a:pPr marL="0" indent="0">
              <a:buNone/>
            </a:pPr>
            <a:r>
              <a:rPr lang="en-US" sz="3000" b="1" dirty="0">
                <a:solidFill>
                  <a:srgbClr val="FF6B35"/>
                </a:solidFill>
                <a:latin typeface="Georgia" pitchFamily="34" charset="0"/>
                <a:ea typeface="Georgia" pitchFamily="34" charset="-122"/>
                <a:cs typeface="Georgia" pitchFamily="34" charset="-120"/>
              </a:rPr>
              <a:t>5</a:t>
            </a:r>
            <a:endParaRPr lang="en-US" sz="3000" dirty="0"/>
          </a:p>
        </p:txBody>
      </p:sp>
      <p:sp>
        <p:nvSpPr>
          <p:cNvPr id="18" name="Text 16"/>
          <p:cNvSpPr/>
          <p:nvPr/>
        </p:nvSpPr>
        <p:spPr>
          <a:xfrm>
            <a:off x="7589520" y="2852928"/>
            <a:ext cx="1234440" cy="34747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Agent Phases</a:t>
            </a:r>
            <a:endParaRPr lang="en-US" sz="850" dirty="0"/>
          </a:p>
        </p:txBody>
      </p:sp>
      <p:sp>
        <p:nvSpPr>
          <p:cNvPr id="19" name="Shape 17"/>
          <p:cNvSpPr/>
          <p:nvPr/>
        </p:nvSpPr>
        <p:spPr>
          <a:xfrm>
            <a:off x="3749040" y="3401568"/>
            <a:ext cx="2487168" cy="292608"/>
          </a:xfrm>
          <a:prstGeom prst="rect">
            <a:avLst/>
          </a:prstGeom>
          <a:solidFill>
            <a:srgbClr val="1A2E55"/>
          </a:solidFill>
          <a:ln w="12700">
            <a:solidFill>
              <a:srgbClr val="1A2E55"/>
            </a:solidFill>
            <a:prstDash val="solid"/>
          </a:ln>
        </p:spPr>
      </p:sp>
      <p:sp>
        <p:nvSpPr>
          <p:cNvPr id="20" name="Text 18"/>
          <p:cNvSpPr/>
          <p:nvPr/>
        </p:nvSpPr>
        <p:spPr>
          <a:xfrm>
            <a:off x="3840480" y="3401568"/>
            <a:ext cx="2395728" cy="292608"/>
          </a:xfrm>
          <a:prstGeom prst="rect">
            <a:avLst/>
          </a:prstGeom>
          <a:noFill/>
          <a:ln/>
        </p:spPr>
        <p:txBody>
          <a:bodyPr wrap="square" rtlCol="0" anchor="ctr"/>
          <a:lstStyle/>
          <a:p>
            <a:pPr marL="0" indent="0">
              <a:buNone/>
            </a:pPr>
            <a:r>
              <a:rPr lang="en-US" sz="900" dirty="0">
                <a:solidFill>
                  <a:srgbClr val="2EC4B6"/>
                </a:solidFill>
                <a:latin typeface="Calibri" pitchFamily="34" charset="0"/>
                <a:ea typeface="Calibri" pitchFamily="34" charset="-122"/>
                <a:cs typeface="Calibri" pitchFamily="34" charset="-120"/>
              </a:rPr>
              <a:t>◆  ReAct Conflict Resolution</a:t>
            </a:r>
            <a:endParaRPr lang="en-US" sz="900" dirty="0"/>
          </a:p>
        </p:txBody>
      </p:sp>
      <p:sp>
        <p:nvSpPr>
          <p:cNvPr id="21" name="Shape 19"/>
          <p:cNvSpPr/>
          <p:nvPr/>
        </p:nvSpPr>
        <p:spPr>
          <a:xfrm>
            <a:off x="6382512" y="3401568"/>
            <a:ext cx="2487168" cy="292608"/>
          </a:xfrm>
          <a:prstGeom prst="rect">
            <a:avLst/>
          </a:prstGeom>
          <a:solidFill>
            <a:srgbClr val="1A2E55"/>
          </a:solidFill>
          <a:ln w="12700">
            <a:solidFill>
              <a:srgbClr val="1A2E55"/>
            </a:solidFill>
            <a:prstDash val="solid"/>
          </a:ln>
        </p:spPr>
      </p:sp>
      <p:sp>
        <p:nvSpPr>
          <p:cNvPr id="22" name="Text 20"/>
          <p:cNvSpPr/>
          <p:nvPr/>
        </p:nvSpPr>
        <p:spPr>
          <a:xfrm>
            <a:off x="6473952" y="3401568"/>
            <a:ext cx="2395728" cy="292608"/>
          </a:xfrm>
          <a:prstGeom prst="rect">
            <a:avLst/>
          </a:prstGeom>
          <a:noFill/>
          <a:ln/>
        </p:spPr>
        <p:txBody>
          <a:bodyPr wrap="square" rtlCol="0" anchor="ctr"/>
          <a:lstStyle/>
          <a:p>
            <a:pPr marL="0" indent="0">
              <a:buNone/>
            </a:pPr>
            <a:r>
              <a:rPr lang="en-US" sz="900" dirty="0">
                <a:solidFill>
                  <a:srgbClr val="2EC4B6"/>
                </a:solidFill>
                <a:latin typeface="Calibri" pitchFamily="34" charset="0"/>
                <a:ea typeface="Calibri" pitchFamily="34" charset="-122"/>
                <a:cs typeface="Calibri" pitchFamily="34" charset="-120"/>
              </a:rPr>
              <a:t>◆  Injection-Proof Guardrail</a:t>
            </a:r>
            <a:endParaRPr lang="en-US" sz="900" dirty="0"/>
          </a:p>
        </p:txBody>
      </p:sp>
      <p:sp>
        <p:nvSpPr>
          <p:cNvPr id="23" name="Shape 21"/>
          <p:cNvSpPr/>
          <p:nvPr/>
        </p:nvSpPr>
        <p:spPr>
          <a:xfrm>
            <a:off x="3749040" y="3785616"/>
            <a:ext cx="2487168" cy="292608"/>
          </a:xfrm>
          <a:prstGeom prst="rect">
            <a:avLst/>
          </a:prstGeom>
          <a:solidFill>
            <a:srgbClr val="1A2E55"/>
          </a:solidFill>
          <a:ln w="12700">
            <a:solidFill>
              <a:srgbClr val="1A2E55"/>
            </a:solidFill>
            <a:prstDash val="solid"/>
          </a:ln>
        </p:spPr>
      </p:sp>
      <p:sp>
        <p:nvSpPr>
          <p:cNvPr id="24" name="Text 22"/>
          <p:cNvSpPr/>
          <p:nvPr/>
        </p:nvSpPr>
        <p:spPr>
          <a:xfrm>
            <a:off x="3840480" y="3785616"/>
            <a:ext cx="2395728" cy="292608"/>
          </a:xfrm>
          <a:prstGeom prst="rect">
            <a:avLst/>
          </a:prstGeom>
          <a:noFill/>
          <a:ln/>
        </p:spPr>
        <p:txBody>
          <a:bodyPr wrap="square" rtlCol="0" anchor="ctr"/>
          <a:lstStyle/>
          <a:p>
            <a:pPr marL="0" indent="0">
              <a:buNone/>
            </a:pPr>
            <a:r>
              <a:rPr lang="en-US" sz="900" dirty="0">
                <a:solidFill>
                  <a:srgbClr val="2EC4B6"/>
                </a:solidFill>
                <a:latin typeface="Calibri" pitchFamily="34" charset="0"/>
                <a:ea typeface="Calibri" pitchFamily="34" charset="-122"/>
                <a:cs typeface="Calibri" pitchFamily="34" charset="-120"/>
              </a:rPr>
              <a:t>◆  NL Task Entry (Haiku 4.5)</a:t>
            </a:r>
            <a:endParaRPr lang="en-US" sz="900" dirty="0"/>
          </a:p>
        </p:txBody>
      </p:sp>
      <p:sp>
        <p:nvSpPr>
          <p:cNvPr id="25" name="Shape 23"/>
          <p:cNvSpPr/>
          <p:nvPr/>
        </p:nvSpPr>
        <p:spPr>
          <a:xfrm>
            <a:off x="6382512" y="3785616"/>
            <a:ext cx="2487168" cy="292608"/>
          </a:xfrm>
          <a:prstGeom prst="rect">
            <a:avLst/>
          </a:prstGeom>
          <a:solidFill>
            <a:srgbClr val="1A2E55"/>
          </a:solidFill>
          <a:ln w="12700">
            <a:solidFill>
              <a:srgbClr val="1A2E55"/>
            </a:solidFill>
            <a:prstDash val="solid"/>
          </a:ln>
        </p:spPr>
      </p:sp>
      <p:sp>
        <p:nvSpPr>
          <p:cNvPr id="26" name="Text 24"/>
          <p:cNvSpPr/>
          <p:nvPr/>
        </p:nvSpPr>
        <p:spPr>
          <a:xfrm>
            <a:off x="6473952" y="3785616"/>
            <a:ext cx="2395728" cy="292608"/>
          </a:xfrm>
          <a:prstGeom prst="rect">
            <a:avLst/>
          </a:prstGeom>
          <a:noFill/>
          <a:ln/>
        </p:spPr>
        <p:txBody>
          <a:bodyPr wrap="square" rtlCol="0" anchor="ctr"/>
          <a:lstStyle/>
          <a:p>
            <a:pPr marL="0" indent="0">
              <a:buNone/>
            </a:pPr>
            <a:r>
              <a:rPr lang="en-US" sz="900" dirty="0">
                <a:solidFill>
                  <a:srgbClr val="2EC4B6"/>
                </a:solidFill>
                <a:latin typeface="Calibri" pitchFamily="34" charset="0"/>
                <a:ea typeface="Calibri" pitchFamily="34" charset="-122"/>
                <a:cs typeface="Calibri" pitchFamily="34" charset="-120"/>
              </a:rPr>
              <a:t>◆  Gantt + Audit Trail</a:t>
            </a:r>
            <a:endParaRPr lang="en-US" sz="900" dirty="0"/>
          </a:p>
        </p:txBody>
      </p:sp>
      <p:sp>
        <p:nvSpPr>
          <p:cNvPr id="29" name="TextBox 28">
            <a:extLst>
              <a:ext uri="{FF2B5EF4-FFF2-40B4-BE49-F238E27FC236}">
                <a16:creationId xmlns:a16="http://schemas.microsoft.com/office/drawing/2014/main" id="{4BF76648-533E-825F-AC05-FB44576721F9}"/>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101B35"/>
          </a:solidFill>
          <a:ln w="12700">
            <a:solidFill>
              <a:srgbClr val="101B35"/>
            </a:solidFill>
            <a:prstDash val="solid"/>
          </a:ln>
        </p:spPr>
      </p:sp>
      <p:sp>
        <p:nvSpPr>
          <p:cNvPr id="3" name="Shape 1"/>
          <p:cNvSpPr/>
          <p:nvPr/>
        </p:nvSpPr>
        <p:spPr>
          <a:xfrm>
            <a:off x="457200" y="182880"/>
            <a:ext cx="1874520" cy="246888"/>
          </a:xfrm>
          <a:prstGeom prst="roundRect">
            <a:avLst>
              <a:gd name="adj" fmla="val 14815"/>
            </a:avLst>
          </a:prstGeom>
          <a:solidFill>
            <a:srgbClr val="101B35"/>
          </a:solidFill>
          <a:ln w="12700">
            <a:solidFill>
              <a:srgbClr val="101B35"/>
            </a:solidFill>
            <a:prstDash val="solid"/>
          </a:ln>
        </p:spPr>
      </p:sp>
      <p:sp>
        <p:nvSpPr>
          <p:cNvPr id="4" name="Text 2"/>
          <p:cNvSpPr/>
          <p:nvPr/>
        </p:nvSpPr>
        <p:spPr>
          <a:xfrm>
            <a:off x="457200" y="182880"/>
            <a:ext cx="1874520" cy="246888"/>
          </a:xfrm>
          <a:prstGeom prst="rect">
            <a:avLst/>
          </a:prstGeom>
          <a:noFill/>
          <a:ln/>
        </p:spPr>
        <p:txBody>
          <a:bodyPr wrap="square" rtlCol="0" anchor="ctr"/>
          <a:lstStyle/>
          <a:p>
            <a:pPr marL="0" indent="0" algn="ctr">
              <a:buNone/>
            </a:pPr>
            <a:r>
              <a:rPr lang="en-US" sz="800" b="1" kern="0" spc="200" dirty="0">
                <a:solidFill>
                  <a:srgbClr val="FFFFFF"/>
                </a:solidFill>
                <a:latin typeface="Calibri" pitchFamily="34" charset="0"/>
                <a:ea typeface="Calibri" pitchFamily="34" charset="-122"/>
                <a:cs typeface="Calibri" pitchFamily="34" charset="-120"/>
              </a:rPr>
              <a:t>THE PROBLEM</a:t>
            </a:r>
            <a:endParaRPr lang="en-US" sz="800" dirty="0"/>
          </a:p>
        </p:txBody>
      </p:sp>
      <p:sp>
        <p:nvSpPr>
          <p:cNvPr id="5" name="Text 3"/>
          <p:cNvSpPr/>
          <p:nvPr/>
        </p:nvSpPr>
        <p:spPr>
          <a:xfrm>
            <a:off x="457200" y="548640"/>
            <a:ext cx="8595360" cy="685800"/>
          </a:xfrm>
          <a:prstGeom prst="rect">
            <a:avLst/>
          </a:prstGeom>
          <a:noFill/>
          <a:ln/>
        </p:spPr>
        <p:txBody>
          <a:bodyPr wrap="square" rtlCol="0" anchor="ctr"/>
          <a:lstStyle/>
          <a:p>
            <a:pPr marL="0" indent="0">
              <a:buNone/>
            </a:pPr>
            <a:r>
              <a:rPr lang="en-US" sz="3000" b="1" dirty="0">
                <a:solidFill>
                  <a:srgbClr val="101B35"/>
                </a:solidFill>
                <a:latin typeface="Georgia" pitchFamily="34" charset="0"/>
                <a:ea typeface="Georgia" pitchFamily="34" charset="-122"/>
                <a:cs typeface="Georgia" pitchFamily="34" charset="-120"/>
              </a:rPr>
              <a:t>From Starter App to Agentic System</a:t>
            </a:r>
            <a:endParaRPr lang="en-US" sz="3000" dirty="0"/>
          </a:p>
        </p:txBody>
      </p:sp>
      <p:sp>
        <p:nvSpPr>
          <p:cNvPr id="6" name="Shape 4"/>
          <p:cNvSpPr/>
          <p:nvPr/>
        </p:nvSpPr>
        <p:spPr>
          <a:xfrm>
            <a:off x="320040" y="1353312"/>
            <a:ext cx="4041648" cy="3456432"/>
          </a:xfrm>
          <a:prstGeom prst="rect">
            <a:avLst/>
          </a:prstGeom>
          <a:solidFill>
            <a:srgbClr val="101B35"/>
          </a:solidFill>
          <a:ln/>
          <a:effectLst>
            <a:outerShdw blurRad="101600" dist="25400" dir="8100000" algn="bl" rotWithShape="0">
              <a:srgbClr val="000000">
                <a:alpha val="12000"/>
              </a:srgbClr>
            </a:outerShdw>
          </a:effectLst>
        </p:spPr>
      </p:sp>
      <p:sp>
        <p:nvSpPr>
          <p:cNvPr id="7" name="Shape 5"/>
          <p:cNvSpPr/>
          <p:nvPr/>
        </p:nvSpPr>
        <p:spPr>
          <a:xfrm>
            <a:off x="320040" y="1353312"/>
            <a:ext cx="4041648" cy="82296"/>
          </a:xfrm>
          <a:prstGeom prst="rect">
            <a:avLst/>
          </a:prstGeom>
          <a:solidFill>
            <a:srgbClr val="94A3B8"/>
          </a:solidFill>
          <a:ln w="12700">
            <a:solidFill>
              <a:srgbClr val="94A3B8"/>
            </a:solidFill>
            <a:prstDash val="solid"/>
          </a:ln>
        </p:spPr>
      </p:sp>
      <p:sp>
        <p:nvSpPr>
          <p:cNvPr id="8" name="Text 6"/>
          <p:cNvSpPr/>
          <p:nvPr/>
        </p:nvSpPr>
        <p:spPr>
          <a:xfrm>
            <a:off x="475488" y="1463040"/>
            <a:ext cx="3730752" cy="384048"/>
          </a:xfrm>
          <a:prstGeom prst="rect">
            <a:avLst/>
          </a:prstGeom>
          <a:noFill/>
          <a:ln/>
        </p:spPr>
        <p:txBody>
          <a:bodyPr wrap="square" rtlCol="0" anchor="ctr"/>
          <a:lstStyle/>
          <a:p>
            <a:pPr marL="0" indent="0">
              <a:buNone/>
            </a:pPr>
            <a:r>
              <a:rPr lang="en-US" sz="1300" b="1" dirty="0">
                <a:solidFill>
                  <a:srgbClr val="94A3B8"/>
                </a:solidFill>
                <a:latin typeface="Georgia" pitchFamily="34" charset="0"/>
                <a:ea typeface="Georgia" pitchFamily="34" charset="-122"/>
                <a:cs typeface="Georgia" pitchFamily="34" charset="-120"/>
              </a:rPr>
              <a:t>PawPal  —  The Starter App</a:t>
            </a:r>
            <a:endParaRPr lang="en-US" sz="1300" dirty="0"/>
          </a:p>
        </p:txBody>
      </p:sp>
      <p:sp>
        <p:nvSpPr>
          <p:cNvPr id="9" name="Text 7"/>
          <p:cNvSpPr/>
          <p:nvPr/>
        </p:nvSpPr>
        <p:spPr>
          <a:xfrm>
            <a:off x="475488" y="1847088"/>
            <a:ext cx="3730752" cy="274320"/>
          </a:xfrm>
          <a:prstGeom prst="rect">
            <a:avLst/>
          </a:prstGeom>
          <a:noFill/>
          <a:ln/>
        </p:spPr>
        <p:txBody>
          <a:bodyPr wrap="square" rtlCol="0" anchor="ctr"/>
          <a:lstStyle/>
          <a:p>
            <a:pPr marL="0" indent="0">
              <a:buNone/>
            </a:pPr>
            <a:r>
              <a:rPr lang="en-US" sz="900" dirty="0">
                <a:solidFill>
                  <a:srgbClr val="64748B"/>
                </a:solidFill>
                <a:latin typeface="Calibri" pitchFamily="34" charset="0"/>
                <a:ea typeface="Calibri" pitchFamily="34" charset="-122"/>
                <a:cs typeface="Calibri" pitchFamily="34" charset="-120"/>
              </a:rPr>
              <a:t>23 unit tests  ·  Deterministic only</a:t>
            </a:r>
            <a:endParaRPr lang="en-US" sz="900" dirty="0"/>
          </a:p>
        </p:txBody>
      </p:sp>
      <p:sp>
        <p:nvSpPr>
          <p:cNvPr id="10" name="Text 8"/>
          <p:cNvSpPr/>
          <p:nvPr/>
        </p:nvSpPr>
        <p:spPr>
          <a:xfrm>
            <a:off x="475488" y="2194560"/>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Conflicts flagged with a warning — never resolved</a:t>
            </a:r>
            <a:endParaRPr lang="en-US" sz="950" dirty="0"/>
          </a:p>
        </p:txBody>
      </p:sp>
      <p:sp>
        <p:nvSpPr>
          <p:cNvPr id="11" name="Text 9"/>
          <p:cNvSpPr/>
          <p:nvPr/>
        </p:nvSpPr>
        <p:spPr>
          <a:xfrm>
            <a:off x="475488" y="2578608"/>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No natural language task entry</a:t>
            </a:r>
            <a:endParaRPr lang="en-US" sz="950" dirty="0"/>
          </a:p>
        </p:txBody>
      </p:sp>
      <p:sp>
        <p:nvSpPr>
          <p:cNvPr id="12" name="Text 10"/>
          <p:cNvSpPr/>
          <p:nvPr/>
        </p:nvSpPr>
        <p:spPr>
          <a:xfrm>
            <a:off x="475488" y="2962656"/>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Required tasks could be silently dropped</a:t>
            </a:r>
            <a:endParaRPr lang="en-US" sz="950" dirty="0"/>
          </a:p>
        </p:txBody>
      </p:sp>
      <p:sp>
        <p:nvSpPr>
          <p:cNvPr id="13" name="Text 11"/>
          <p:cNvSpPr/>
          <p:nvPr/>
        </p:nvSpPr>
        <p:spPr>
          <a:xfrm>
            <a:off x="475488" y="3346704"/>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No automated conflict resolution loop</a:t>
            </a:r>
            <a:endParaRPr lang="en-US" sz="950" dirty="0"/>
          </a:p>
        </p:txBody>
      </p:sp>
      <p:sp>
        <p:nvSpPr>
          <p:cNvPr id="14" name="Text 12"/>
          <p:cNvSpPr/>
          <p:nvPr/>
        </p:nvSpPr>
        <p:spPr>
          <a:xfrm>
            <a:off x="475488" y="3730752"/>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No AI reasoning trace or audit trail</a:t>
            </a:r>
            <a:endParaRPr lang="en-US" sz="950" dirty="0"/>
          </a:p>
        </p:txBody>
      </p:sp>
      <p:sp>
        <p:nvSpPr>
          <p:cNvPr id="15" name="Text 13"/>
          <p:cNvSpPr/>
          <p:nvPr/>
        </p:nvSpPr>
        <p:spPr>
          <a:xfrm>
            <a:off x="475488" y="4114800"/>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No persistence — session_state only</a:t>
            </a:r>
            <a:endParaRPr lang="en-US" sz="950" dirty="0"/>
          </a:p>
        </p:txBody>
      </p:sp>
      <p:sp>
        <p:nvSpPr>
          <p:cNvPr id="16" name="Text 14"/>
          <p:cNvSpPr/>
          <p:nvPr/>
        </p:nvSpPr>
        <p:spPr>
          <a:xfrm>
            <a:off x="475488" y="4498848"/>
            <a:ext cx="3767328" cy="338328"/>
          </a:xfrm>
          <a:prstGeom prst="rect">
            <a:avLst/>
          </a:prstGeom>
          <a:noFill/>
          <a:ln/>
        </p:spPr>
        <p:txBody>
          <a:bodyPr wrap="square" rtlCol="0" anchor="ctr"/>
          <a:lstStyle/>
          <a:p>
            <a:pPr marL="0" indent="0">
              <a:buNone/>
            </a:pPr>
            <a:r>
              <a:rPr lang="en-US" sz="950" dirty="0">
                <a:solidFill>
                  <a:srgbClr val="FF9999"/>
                </a:solidFill>
                <a:latin typeface="Calibri" pitchFamily="34" charset="0"/>
                <a:ea typeface="Calibri" pitchFamily="34" charset="-122"/>
                <a:cs typeface="Calibri" pitchFamily="34" charset="-120"/>
              </a:rPr>
              <a:t>✗  Manually filling every task form field</a:t>
            </a:r>
            <a:endParaRPr lang="en-US" sz="950" dirty="0"/>
          </a:p>
        </p:txBody>
      </p:sp>
      <p:sp>
        <p:nvSpPr>
          <p:cNvPr id="17" name="Text 15"/>
          <p:cNvSpPr/>
          <p:nvPr/>
        </p:nvSpPr>
        <p:spPr>
          <a:xfrm>
            <a:off x="4407408" y="2651760"/>
            <a:ext cx="502920" cy="731520"/>
          </a:xfrm>
          <a:prstGeom prst="rect">
            <a:avLst/>
          </a:prstGeom>
          <a:noFill/>
          <a:ln/>
        </p:spPr>
        <p:txBody>
          <a:bodyPr wrap="square" rtlCol="0" anchor="ctr"/>
          <a:lstStyle/>
          <a:p>
            <a:pPr marL="0" indent="0" algn="ctr">
              <a:buNone/>
            </a:pPr>
            <a:r>
              <a:rPr lang="en-US" sz="3600" b="1" dirty="0">
                <a:solidFill>
                  <a:srgbClr val="FF6B35"/>
                </a:solidFill>
                <a:latin typeface="Georgia" pitchFamily="34" charset="0"/>
                <a:ea typeface="Georgia" pitchFamily="34" charset="-122"/>
                <a:cs typeface="Georgia" pitchFamily="34" charset="-120"/>
              </a:rPr>
              <a:t>→</a:t>
            </a:r>
            <a:endParaRPr lang="en-US" sz="3600" dirty="0"/>
          </a:p>
        </p:txBody>
      </p:sp>
      <p:sp>
        <p:nvSpPr>
          <p:cNvPr id="18" name="Shape 16"/>
          <p:cNvSpPr/>
          <p:nvPr/>
        </p:nvSpPr>
        <p:spPr>
          <a:xfrm>
            <a:off x="4782312" y="1353312"/>
            <a:ext cx="4041648" cy="3456432"/>
          </a:xfrm>
          <a:prstGeom prst="rect">
            <a:avLst/>
          </a:prstGeom>
          <a:solidFill>
            <a:srgbClr val="1A2E55"/>
          </a:solidFill>
          <a:ln/>
          <a:effectLst>
            <a:outerShdw blurRad="101600" dist="25400" dir="8100000" algn="bl" rotWithShape="0">
              <a:srgbClr val="000000">
                <a:alpha val="12000"/>
              </a:srgbClr>
            </a:outerShdw>
          </a:effectLst>
        </p:spPr>
      </p:sp>
      <p:sp>
        <p:nvSpPr>
          <p:cNvPr id="19" name="Shape 17"/>
          <p:cNvSpPr/>
          <p:nvPr/>
        </p:nvSpPr>
        <p:spPr>
          <a:xfrm>
            <a:off x="4782312" y="1353312"/>
            <a:ext cx="4041648" cy="82296"/>
          </a:xfrm>
          <a:prstGeom prst="rect">
            <a:avLst/>
          </a:prstGeom>
          <a:solidFill>
            <a:srgbClr val="2EC4B6"/>
          </a:solidFill>
          <a:ln w="12700">
            <a:solidFill>
              <a:srgbClr val="2EC4B6"/>
            </a:solidFill>
            <a:prstDash val="solid"/>
          </a:ln>
        </p:spPr>
      </p:sp>
      <p:sp>
        <p:nvSpPr>
          <p:cNvPr id="20" name="Text 18"/>
          <p:cNvSpPr/>
          <p:nvPr/>
        </p:nvSpPr>
        <p:spPr>
          <a:xfrm>
            <a:off x="4937760" y="1463040"/>
            <a:ext cx="3730752" cy="384048"/>
          </a:xfrm>
          <a:prstGeom prst="rect">
            <a:avLst/>
          </a:prstGeom>
          <a:noFill/>
          <a:ln/>
        </p:spPr>
        <p:txBody>
          <a:bodyPr wrap="square" rtlCol="0" anchor="ctr"/>
          <a:lstStyle/>
          <a:p>
            <a:pPr marL="0" indent="0">
              <a:buNone/>
            </a:pPr>
            <a:r>
              <a:rPr lang="en-US" sz="1300" b="1" dirty="0">
                <a:solidFill>
                  <a:srgbClr val="2EC4B6"/>
                </a:solidFill>
                <a:latin typeface="Georgia" pitchFamily="34" charset="0"/>
                <a:ea typeface="Georgia" pitchFamily="34" charset="-122"/>
                <a:cs typeface="Georgia" pitchFamily="34" charset="-120"/>
              </a:rPr>
              <a:t>PawPal+  —  Full Agentic System</a:t>
            </a:r>
            <a:endParaRPr lang="en-US" sz="1300" dirty="0"/>
          </a:p>
        </p:txBody>
      </p:sp>
      <p:sp>
        <p:nvSpPr>
          <p:cNvPr id="21" name="Text 19"/>
          <p:cNvSpPr/>
          <p:nvPr/>
        </p:nvSpPr>
        <p:spPr>
          <a:xfrm>
            <a:off x="4937760" y="1847088"/>
            <a:ext cx="3730752" cy="27432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219 tests  ·  Haiku 4.5 + Sonnet 4.6</a:t>
            </a:r>
            <a:endParaRPr lang="en-US" sz="900" dirty="0"/>
          </a:p>
        </p:txBody>
      </p:sp>
      <p:sp>
        <p:nvSpPr>
          <p:cNvPr id="22" name="Text 20"/>
          <p:cNvSpPr/>
          <p:nvPr/>
        </p:nvSpPr>
        <p:spPr>
          <a:xfrm>
            <a:off x="4937760" y="2194560"/>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ReAct agent resolves conflicts autonomously</a:t>
            </a:r>
            <a:endParaRPr lang="en-US" sz="950" dirty="0"/>
          </a:p>
        </p:txBody>
      </p:sp>
      <p:sp>
        <p:nvSpPr>
          <p:cNvPr id="23" name="Text 21"/>
          <p:cNvSpPr/>
          <p:nvPr/>
        </p:nvSpPr>
        <p:spPr>
          <a:xfrm>
            <a:off x="4937760" y="2578608"/>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Claude Haiku 4.5 parses plain-English tasks</a:t>
            </a:r>
            <a:endParaRPr lang="en-US" sz="950" dirty="0"/>
          </a:p>
        </p:txBody>
      </p:sp>
      <p:sp>
        <p:nvSpPr>
          <p:cNvPr id="24" name="Text 22"/>
          <p:cNvSpPr/>
          <p:nvPr/>
        </p:nvSpPr>
        <p:spPr>
          <a:xfrm>
            <a:off x="4937760" y="2962656"/>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Injection-proof guardrail restores required tasks</a:t>
            </a:r>
            <a:endParaRPr lang="en-US" sz="950" dirty="0"/>
          </a:p>
        </p:txBody>
      </p:sp>
      <p:sp>
        <p:nvSpPr>
          <p:cNvPr id="25" name="Text 23"/>
          <p:cNvSpPr/>
          <p:nvPr/>
        </p:nvSpPr>
        <p:spPr>
          <a:xfrm>
            <a:off x="4937760" y="3346704"/>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Bounded ReAct loop (≤5 steps) with full trace</a:t>
            </a:r>
            <a:endParaRPr lang="en-US" sz="950" dirty="0"/>
          </a:p>
        </p:txBody>
      </p:sp>
      <p:sp>
        <p:nvSpPr>
          <p:cNvPr id="26" name="Text 24"/>
          <p:cNvSpPr/>
          <p:nvPr/>
        </p:nvSpPr>
        <p:spPr>
          <a:xfrm>
            <a:off x="4937760" y="3730752"/>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Step-by-step agent reasoning log in UI</a:t>
            </a:r>
            <a:endParaRPr lang="en-US" sz="950" dirty="0"/>
          </a:p>
        </p:txBody>
      </p:sp>
      <p:sp>
        <p:nvSpPr>
          <p:cNvPr id="27" name="Text 25"/>
          <p:cNvSpPr/>
          <p:nvPr/>
        </p:nvSpPr>
        <p:spPr>
          <a:xfrm>
            <a:off x="4937760" y="4114800"/>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JSON persistence + append-only audit JSONL</a:t>
            </a:r>
            <a:endParaRPr lang="en-US" sz="950" dirty="0"/>
          </a:p>
        </p:txBody>
      </p:sp>
      <p:sp>
        <p:nvSpPr>
          <p:cNvPr id="28" name="Text 26"/>
          <p:cNvSpPr/>
          <p:nvPr/>
        </p:nvSpPr>
        <p:spPr>
          <a:xfrm>
            <a:off x="4937760" y="4498848"/>
            <a:ext cx="3767328" cy="338328"/>
          </a:xfrm>
          <a:prstGeom prst="rect">
            <a:avLst/>
          </a:prstGeom>
          <a:noFill/>
          <a:ln/>
        </p:spPr>
        <p:txBody>
          <a:bodyPr wrap="square" rtlCol="0" anchor="ctr"/>
          <a:lstStyle/>
          <a:p>
            <a:pPr marL="0" indent="0">
              <a:buNone/>
            </a:pPr>
            <a:r>
              <a:rPr lang="en-US" sz="950" dirty="0">
                <a:solidFill>
                  <a:srgbClr val="86EFAC"/>
                </a:solidFill>
                <a:latin typeface="Calibri" pitchFamily="34" charset="0"/>
                <a:ea typeface="Calibri" pitchFamily="34" charset="-122"/>
                <a:cs typeface="Calibri" pitchFamily="34" charset="-120"/>
              </a:rPr>
              <a:t>✓  Structured tool-use extracts all task fields</a:t>
            </a:r>
            <a:endParaRPr lang="en-US" sz="950" dirty="0"/>
          </a:p>
        </p:txBody>
      </p:sp>
      <p:sp>
        <p:nvSpPr>
          <p:cNvPr id="29" name="Shape 27"/>
          <p:cNvSpPr/>
          <p:nvPr/>
        </p:nvSpPr>
        <p:spPr>
          <a:xfrm>
            <a:off x="0" y="5020056"/>
            <a:ext cx="9144000" cy="123444"/>
          </a:xfrm>
          <a:prstGeom prst="rect">
            <a:avLst/>
          </a:prstGeom>
          <a:solidFill>
            <a:srgbClr val="FF6B35"/>
          </a:solidFill>
          <a:ln w="12700">
            <a:solidFill>
              <a:srgbClr val="FF6B35"/>
            </a:solidFill>
            <a:prstDash val="solid"/>
          </a:ln>
        </p:spPr>
      </p:sp>
      <p:sp>
        <p:nvSpPr>
          <p:cNvPr id="30" name="TextBox 29">
            <a:extLst>
              <a:ext uri="{FF2B5EF4-FFF2-40B4-BE49-F238E27FC236}">
                <a16:creationId xmlns:a16="http://schemas.microsoft.com/office/drawing/2014/main" id="{7DEB17F6-6C07-EFFD-C664-0D7A986EB595}"/>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B3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2EC4B6"/>
          </a:solidFill>
          <a:ln w="12700">
            <a:solidFill>
              <a:srgbClr val="2EC4B6"/>
            </a:solidFill>
            <a:prstDash val="solid"/>
          </a:ln>
        </p:spPr>
      </p:sp>
      <p:sp>
        <p:nvSpPr>
          <p:cNvPr id="3" name="Shape 1"/>
          <p:cNvSpPr/>
          <p:nvPr/>
        </p:nvSpPr>
        <p:spPr>
          <a:xfrm>
            <a:off x="457200" y="182880"/>
            <a:ext cx="1874520" cy="246888"/>
          </a:xfrm>
          <a:prstGeom prst="roundRect">
            <a:avLst>
              <a:gd name="adj" fmla="val 14815"/>
            </a:avLst>
          </a:prstGeom>
          <a:solidFill>
            <a:srgbClr val="2EC4B6"/>
          </a:solidFill>
          <a:ln w="12700">
            <a:solidFill>
              <a:srgbClr val="2EC4B6"/>
            </a:solidFill>
            <a:prstDash val="solid"/>
          </a:ln>
        </p:spPr>
      </p:sp>
      <p:sp>
        <p:nvSpPr>
          <p:cNvPr id="4" name="Text 2"/>
          <p:cNvSpPr/>
          <p:nvPr/>
        </p:nvSpPr>
        <p:spPr>
          <a:xfrm>
            <a:off x="457200" y="182880"/>
            <a:ext cx="1874520" cy="246888"/>
          </a:xfrm>
          <a:prstGeom prst="rect">
            <a:avLst/>
          </a:prstGeom>
          <a:noFill/>
          <a:ln/>
        </p:spPr>
        <p:txBody>
          <a:bodyPr wrap="square" rtlCol="0" anchor="ctr"/>
          <a:lstStyle/>
          <a:p>
            <a:pPr marL="0" indent="0" algn="ctr">
              <a:buNone/>
            </a:pPr>
            <a:r>
              <a:rPr lang="en-US" sz="800" b="1" kern="0" spc="200" dirty="0">
                <a:solidFill>
                  <a:srgbClr val="101B35"/>
                </a:solidFill>
                <a:latin typeface="Calibri" pitchFamily="34" charset="0"/>
                <a:ea typeface="Calibri" pitchFamily="34" charset="-122"/>
                <a:cs typeface="Calibri" pitchFamily="34" charset="-120"/>
              </a:rPr>
              <a:t>THE LOGIC</a:t>
            </a:r>
            <a:endParaRPr lang="en-US" sz="800" dirty="0"/>
          </a:p>
        </p:txBody>
      </p:sp>
      <p:sp>
        <p:nvSpPr>
          <p:cNvPr id="5" name="Text 3"/>
          <p:cNvSpPr/>
          <p:nvPr/>
        </p:nvSpPr>
        <p:spPr>
          <a:xfrm>
            <a:off x="457200" y="548640"/>
            <a:ext cx="8595360" cy="68580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Five-Phase Agentic Workflow</a:t>
            </a:r>
            <a:endParaRPr lang="en-US" sz="3000" dirty="0"/>
          </a:p>
        </p:txBody>
      </p:sp>
      <p:sp>
        <p:nvSpPr>
          <p:cNvPr id="6" name="Shape 4"/>
          <p:cNvSpPr/>
          <p:nvPr/>
        </p:nvSpPr>
        <p:spPr>
          <a:xfrm>
            <a:off x="256032" y="1353312"/>
            <a:ext cx="1609344" cy="1417320"/>
          </a:xfrm>
          <a:prstGeom prst="rect">
            <a:avLst/>
          </a:prstGeom>
          <a:solidFill>
            <a:srgbClr val="1A2E55"/>
          </a:solidFill>
          <a:ln/>
        </p:spPr>
      </p:sp>
      <p:sp>
        <p:nvSpPr>
          <p:cNvPr id="7" name="Shape 5"/>
          <p:cNvSpPr/>
          <p:nvPr/>
        </p:nvSpPr>
        <p:spPr>
          <a:xfrm>
            <a:off x="256032" y="1353312"/>
            <a:ext cx="1609344" cy="73152"/>
          </a:xfrm>
          <a:prstGeom prst="rect">
            <a:avLst/>
          </a:prstGeom>
          <a:solidFill>
            <a:srgbClr val="FF6B35"/>
          </a:solidFill>
          <a:ln w="12700">
            <a:solidFill>
              <a:srgbClr val="FF6B35"/>
            </a:solidFill>
            <a:prstDash val="solid"/>
          </a:ln>
        </p:spPr>
      </p:sp>
      <p:sp>
        <p:nvSpPr>
          <p:cNvPr id="8" name="Shape 6"/>
          <p:cNvSpPr/>
          <p:nvPr/>
        </p:nvSpPr>
        <p:spPr>
          <a:xfrm>
            <a:off x="649224" y="1481328"/>
            <a:ext cx="822960" cy="822960"/>
          </a:xfrm>
          <a:prstGeom prst="ellipse">
            <a:avLst/>
          </a:prstGeom>
          <a:solidFill>
            <a:srgbClr val="FF6B35"/>
          </a:solidFill>
          <a:ln/>
        </p:spPr>
      </p:sp>
      <p:sp>
        <p:nvSpPr>
          <p:cNvPr id="9" name="Text 7"/>
          <p:cNvSpPr/>
          <p:nvPr/>
        </p:nvSpPr>
        <p:spPr>
          <a:xfrm>
            <a:off x="649224" y="1481328"/>
            <a:ext cx="822960" cy="8229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1</a:t>
            </a:r>
            <a:endParaRPr lang="en-US" sz="2400" dirty="0"/>
          </a:p>
        </p:txBody>
      </p:sp>
      <p:sp>
        <p:nvSpPr>
          <p:cNvPr id="10" name="Text 8"/>
          <p:cNvSpPr/>
          <p:nvPr/>
        </p:nvSpPr>
        <p:spPr>
          <a:xfrm>
            <a:off x="301752" y="2377440"/>
            <a:ext cx="1517904" cy="384048"/>
          </a:xfrm>
          <a:prstGeom prst="rect">
            <a:avLst/>
          </a:prstGeom>
          <a:noFill/>
          <a:ln/>
        </p:spPr>
        <p:txBody>
          <a:bodyPr wrap="square" rtlCol="0" anchor="ctr"/>
          <a:lstStyle/>
          <a:p>
            <a:pPr marL="0" indent="0" algn="ctr">
              <a:buNone/>
            </a:pPr>
            <a:r>
              <a:rPr lang="en-US" sz="1000" b="1" dirty="0">
                <a:solidFill>
                  <a:srgbClr val="FFFFFF"/>
                </a:solidFill>
                <a:latin typeface="Georgia" pitchFamily="34" charset="0"/>
                <a:ea typeface="Georgia" pitchFamily="34" charset="-122"/>
                <a:cs typeface="Georgia" pitchFamily="34" charset="-120"/>
              </a:rPr>
              <a:t>NL Parsing</a:t>
            </a:r>
            <a:endParaRPr lang="en-US" sz="1000" dirty="0"/>
          </a:p>
        </p:txBody>
      </p:sp>
      <p:sp>
        <p:nvSpPr>
          <p:cNvPr id="11" name="Text 9"/>
          <p:cNvSpPr/>
          <p:nvPr/>
        </p:nvSpPr>
        <p:spPr>
          <a:xfrm>
            <a:off x="1865376" y="1773936"/>
            <a:ext cx="128016" cy="457200"/>
          </a:xfrm>
          <a:prstGeom prst="rect">
            <a:avLst/>
          </a:prstGeom>
          <a:noFill/>
          <a:ln/>
        </p:spPr>
        <p:txBody>
          <a:bodyPr wrap="square" rtlCol="0" anchor="ctr"/>
          <a:lstStyle/>
          <a:p>
            <a:pPr marL="0" indent="0" algn="ctr">
              <a:buNone/>
            </a:pPr>
            <a:r>
              <a:rPr lang="en-US" sz="1600" dirty="0">
                <a:solidFill>
                  <a:srgbClr val="94A3B8"/>
                </a:solidFill>
                <a:latin typeface="Georgia" pitchFamily="34" charset="0"/>
                <a:ea typeface="Georgia" pitchFamily="34" charset="-122"/>
                <a:cs typeface="Georgia" pitchFamily="34" charset="-120"/>
              </a:rPr>
              <a:t>→</a:t>
            </a:r>
            <a:endParaRPr lang="en-US" sz="1600" dirty="0"/>
          </a:p>
        </p:txBody>
      </p:sp>
      <p:sp>
        <p:nvSpPr>
          <p:cNvPr id="12" name="Shape 10"/>
          <p:cNvSpPr/>
          <p:nvPr/>
        </p:nvSpPr>
        <p:spPr>
          <a:xfrm>
            <a:off x="1993392" y="1353312"/>
            <a:ext cx="1609344" cy="1417320"/>
          </a:xfrm>
          <a:prstGeom prst="rect">
            <a:avLst/>
          </a:prstGeom>
          <a:solidFill>
            <a:srgbClr val="1A2E55"/>
          </a:solidFill>
          <a:ln/>
        </p:spPr>
      </p:sp>
      <p:sp>
        <p:nvSpPr>
          <p:cNvPr id="13" name="Shape 11"/>
          <p:cNvSpPr/>
          <p:nvPr/>
        </p:nvSpPr>
        <p:spPr>
          <a:xfrm>
            <a:off x="1993392" y="1353312"/>
            <a:ext cx="1609344" cy="73152"/>
          </a:xfrm>
          <a:prstGeom prst="rect">
            <a:avLst/>
          </a:prstGeom>
          <a:solidFill>
            <a:srgbClr val="2EC4B6"/>
          </a:solidFill>
          <a:ln w="12700">
            <a:solidFill>
              <a:srgbClr val="2EC4B6"/>
            </a:solidFill>
            <a:prstDash val="solid"/>
          </a:ln>
        </p:spPr>
      </p:sp>
      <p:sp>
        <p:nvSpPr>
          <p:cNvPr id="14" name="Shape 12"/>
          <p:cNvSpPr/>
          <p:nvPr/>
        </p:nvSpPr>
        <p:spPr>
          <a:xfrm>
            <a:off x="2386584" y="1481328"/>
            <a:ext cx="822960" cy="822960"/>
          </a:xfrm>
          <a:prstGeom prst="ellipse">
            <a:avLst/>
          </a:prstGeom>
          <a:solidFill>
            <a:srgbClr val="2EC4B6"/>
          </a:solidFill>
          <a:ln/>
        </p:spPr>
      </p:sp>
      <p:sp>
        <p:nvSpPr>
          <p:cNvPr id="15" name="Text 13"/>
          <p:cNvSpPr/>
          <p:nvPr/>
        </p:nvSpPr>
        <p:spPr>
          <a:xfrm>
            <a:off x="2386584" y="1481328"/>
            <a:ext cx="822960" cy="8229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2</a:t>
            </a:r>
            <a:endParaRPr lang="en-US" sz="2400" dirty="0"/>
          </a:p>
        </p:txBody>
      </p:sp>
      <p:sp>
        <p:nvSpPr>
          <p:cNvPr id="16" name="Text 14"/>
          <p:cNvSpPr/>
          <p:nvPr/>
        </p:nvSpPr>
        <p:spPr>
          <a:xfrm>
            <a:off x="2039112" y="2377440"/>
            <a:ext cx="1517904" cy="384048"/>
          </a:xfrm>
          <a:prstGeom prst="rect">
            <a:avLst/>
          </a:prstGeom>
          <a:noFill/>
          <a:ln/>
        </p:spPr>
        <p:txBody>
          <a:bodyPr wrap="square" rtlCol="0" anchor="ctr"/>
          <a:lstStyle/>
          <a:p>
            <a:pPr marL="0" indent="0" algn="ctr">
              <a:buNone/>
            </a:pPr>
            <a:r>
              <a:rPr lang="en-US" sz="1000" b="1" dirty="0">
                <a:solidFill>
                  <a:srgbClr val="FFFFFF"/>
                </a:solidFill>
                <a:latin typeface="Georgia" pitchFamily="34" charset="0"/>
                <a:ea typeface="Georgia" pitchFamily="34" charset="-122"/>
                <a:cs typeface="Georgia" pitchFamily="34" charset="-120"/>
              </a:rPr>
              <a:t>Deterministic</a:t>
            </a:r>
            <a:endParaRPr lang="en-US" sz="1000" dirty="0"/>
          </a:p>
          <a:p>
            <a:pPr marL="0" indent="0" algn="ctr">
              <a:buNone/>
            </a:pPr>
            <a:r>
              <a:rPr lang="en-US" sz="1000" b="1" dirty="0">
                <a:solidFill>
                  <a:srgbClr val="FFFFFF"/>
                </a:solidFill>
                <a:latin typeface="Georgia" pitchFamily="34" charset="0"/>
                <a:ea typeface="Georgia" pitchFamily="34" charset="-122"/>
                <a:cs typeface="Georgia" pitchFamily="34" charset="-120"/>
              </a:rPr>
              <a:t>Scheduler</a:t>
            </a:r>
            <a:endParaRPr lang="en-US" sz="1000" dirty="0"/>
          </a:p>
        </p:txBody>
      </p:sp>
      <p:sp>
        <p:nvSpPr>
          <p:cNvPr id="17" name="Text 15"/>
          <p:cNvSpPr/>
          <p:nvPr/>
        </p:nvSpPr>
        <p:spPr>
          <a:xfrm>
            <a:off x="3602736" y="1773936"/>
            <a:ext cx="128016" cy="457200"/>
          </a:xfrm>
          <a:prstGeom prst="rect">
            <a:avLst/>
          </a:prstGeom>
          <a:noFill/>
          <a:ln/>
        </p:spPr>
        <p:txBody>
          <a:bodyPr wrap="square" rtlCol="0" anchor="ctr"/>
          <a:lstStyle/>
          <a:p>
            <a:pPr marL="0" indent="0" algn="ctr">
              <a:buNone/>
            </a:pPr>
            <a:r>
              <a:rPr lang="en-US" sz="1600" dirty="0">
                <a:solidFill>
                  <a:srgbClr val="94A3B8"/>
                </a:solidFill>
                <a:latin typeface="Georgia" pitchFamily="34" charset="0"/>
                <a:ea typeface="Georgia" pitchFamily="34" charset="-122"/>
                <a:cs typeface="Georgia" pitchFamily="34" charset="-120"/>
              </a:rPr>
              <a:t>→</a:t>
            </a:r>
            <a:endParaRPr lang="en-US" sz="1600" dirty="0"/>
          </a:p>
        </p:txBody>
      </p:sp>
      <p:sp>
        <p:nvSpPr>
          <p:cNvPr id="18" name="Shape 16"/>
          <p:cNvSpPr/>
          <p:nvPr/>
        </p:nvSpPr>
        <p:spPr>
          <a:xfrm>
            <a:off x="3730752" y="1353312"/>
            <a:ext cx="1609344" cy="1417320"/>
          </a:xfrm>
          <a:prstGeom prst="rect">
            <a:avLst/>
          </a:prstGeom>
          <a:solidFill>
            <a:srgbClr val="1A2E55"/>
          </a:solidFill>
          <a:ln/>
        </p:spPr>
      </p:sp>
      <p:sp>
        <p:nvSpPr>
          <p:cNvPr id="19" name="Shape 17"/>
          <p:cNvSpPr/>
          <p:nvPr/>
        </p:nvSpPr>
        <p:spPr>
          <a:xfrm>
            <a:off x="3730752" y="1353312"/>
            <a:ext cx="1609344" cy="73152"/>
          </a:xfrm>
          <a:prstGeom prst="rect">
            <a:avLst/>
          </a:prstGeom>
          <a:solidFill>
            <a:srgbClr val="F59E0B"/>
          </a:solidFill>
          <a:ln w="12700">
            <a:solidFill>
              <a:srgbClr val="F59E0B"/>
            </a:solidFill>
            <a:prstDash val="solid"/>
          </a:ln>
        </p:spPr>
      </p:sp>
      <p:sp>
        <p:nvSpPr>
          <p:cNvPr id="20" name="Shape 18"/>
          <p:cNvSpPr/>
          <p:nvPr/>
        </p:nvSpPr>
        <p:spPr>
          <a:xfrm>
            <a:off x="4123944" y="1481328"/>
            <a:ext cx="822960" cy="822960"/>
          </a:xfrm>
          <a:prstGeom prst="ellipse">
            <a:avLst/>
          </a:prstGeom>
          <a:solidFill>
            <a:srgbClr val="F59E0B"/>
          </a:solidFill>
          <a:ln/>
        </p:spPr>
      </p:sp>
      <p:sp>
        <p:nvSpPr>
          <p:cNvPr id="21" name="Text 19"/>
          <p:cNvSpPr/>
          <p:nvPr/>
        </p:nvSpPr>
        <p:spPr>
          <a:xfrm>
            <a:off x="4123944" y="1481328"/>
            <a:ext cx="822960" cy="8229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3</a:t>
            </a:r>
            <a:endParaRPr lang="en-US" sz="2400" dirty="0"/>
          </a:p>
        </p:txBody>
      </p:sp>
      <p:sp>
        <p:nvSpPr>
          <p:cNvPr id="22" name="Text 20"/>
          <p:cNvSpPr/>
          <p:nvPr/>
        </p:nvSpPr>
        <p:spPr>
          <a:xfrm>
            <a:off x="3776472" y="2377440"/>
            <a:ext cx="1517904" cy="384048"/>
          </a:xfrm>
          <a:prstGeom prst="rect">
            <a:avLst/>
          </a:prstGeom>
          <a:noFill/>
          <a:ln/>
        </p:spPr>
        <p:txBody>
          <a:bodyPr wrap="square" rtlCol="0" anchor="ctr"/>
          <a:lstStyle/>
          <a:p>
            <a:pPr marL="0" indent="0" algn="ctr">
              <a:buNone/>
            </a:pPr>
            <a:r>
              <a:rPr lang="en-US" sz="1000" b="1" dirty="0">
                <a:solidFill>
                  <a:srgbClr val="FFFFFF"/>
                </a:solidFill>
                <a:latin typeface="Georgia" pitchFamily="34" charset="0"/>
                <a:ea typeface="Georgia" pitchFamily="34" charset="-122"/>
                <a:cs typeface="Georgia" pitchFamily="34" charset="-120"/>
              </a:rPr>
              <a:t>ReAct</a:t>
            </a:r>
            <a:endParaRPr lang="en-US" sz="1000" dirty="0"/>
          </a:p>
          <a:p>
            <a:pPr marL="0" indent="0" algn="ctr">
              <a:buNone/>
            </a:pPr>
            <a:r>
              <a:rPr lang="en-US" sz="1000" b="1" dirty="0">
                <a:solidFill>
                  <a:srgbClr val="FFFFFF"/>
                </a:solidFill>
                <a:latin typeface="Georgia" pitchFamily="34" charset="0"/>
                <a:ea typeface="Georgia" pitchFamily="34" charset="-122"/>
                <a:cs typeface="Georgia" pitchFamily="34" charset="-120"/>
              </a:rPr>
              <a:t>Resolution</a:t>
            </a:r>
            <a:endParaRPr lang="en-US" sz="1000" dirty="0"/>
          </a:p>
        </p:txBody>
      </p:sp>
      <p:sp>
        <p:nvSpPr>
          <p:cNvPr id="23" name="Text 21"/>
          <p:cNvSpPr/>
          <p:nvPr/>
        </p:nvSpPr>
        <p:spPr>
          <a:xfrm>
            <a:off x="5340096" y="1773936"/>
            <a:ext cx="128016" cy="457200"/>
          </a:xfrm>
          <a:prstGeom prst="rect">
            <a:avLst/>
          </a:prstGeom>
          <a:noFill/>
          <a:ln/>
        </p:spPr>
        <p:txBody>
          <a:bodyPr wrap="square" rtlCol="0" anchor="ctr"/>
          <a:lstStyle/>
          <a:p>
            <a:pPr marL="0" indent="0" algn="ctr">
              <a:buNone/>
            </a:pPr>
            <a:r>
              <a:rPr lang="en-US" sz="1600" dirty="0">
                <a:solidFill>
                  <a:srgbClr val="94A3B8"/>
                </a:solidFill>
                <a:latin typeface="Georgia" pitchFamily="34" charset="0"/>
                <a:ea typeface="Georgia" pitchFamily="34" charset="-122"/>
                <a:cs typeface="Georgia" pitchFamily="34" charset="-120"/>
              </a:rPr>
              <a:t>→</a:t>
            </a:r>
            <a:endParaRPr lang="en-US" sz="1600" dirty="0"/>
          </a:p>
        </p:txBody>
      </p:sp>
      <p:sp>
        <p:nvSpPr>
          <p:cNvPr id="24" name="Shape 22"/>
          <p:cNvSpPr/>
          <p:nvPr/>
        </p:nvSpPr>
        <p:spPr>
          <a:xfrm>
            <a:off x="5468112" y="1353312"/>
            <a:ext cx="1609344" cy="1417320"/>
          </a:xfrm>
          <a:prstGeom prst="rect">
            <a:avLst/>
          </a:prstGeom>
          <a:solidFill>
            <a:srgbClr val="1A2E55"/>
          </a:solidFill>
          <a:ln/>
        </p:spPr>
      </p:sp>
      <p:sp>
        <p:nvSpPr>
          <p:cNvPr id="25" name="Shape 23"/>
          <p:cNvSpPr/>
          <p:nvPr/>
        </p:nvSpPr>
        <p:spPr>
          <a:xfrm>
            <a:off x="5468112" y="1353312"/>
            <a:ext cx="1609344" cy="73152"/>
          </a:xfrm>
          <a:prstGeom prst="rect">
            <a:avLst/>
          </a:prstGeom>
          <a:solidFill>
            <a:srgbClr val="DC2626"/>
          </a:solidFill>
          <a:ln w="12700">
            <a:solidFill>
              <a:srgbClr val="DC2626"/>
            </a:solidFill>
            <a:prstDash val="solid"/>
          </a:ln>
        </p:spPr>
      </p:sp>
      <p:sp>
        <p:nvSpPr>
          <p:cNvPr id="26" name="Shape 24"/>
          <p:cNvSpPr/>
          <p:nvPr/>
        </p:nvSpPr>
        <p:spPr>
          <a:xfrm>
            <a:off x="5861304" y="1481328"/>
            <a:ext cx="822960" cy="822960"/>
          </a:xfrm>
          <a:prstGeom prst="ellipse">
            <a:avLst/>
          </a:prstGeom>
          <a:solidFill>
            <a:srgbClr val="DC2626"/>
          </a:solidFill>
          <a:ln/>
        </p:spPr>
      </p:sp>
      <p:sp>
        <p:nvSpPr>
          <p:cNvPr id="27" name="Text 25"/>
          <p:cNvSpPr/>
          <p:nvPr/>
        </p:nvSpPr>
        <p:spPr>
          <a:xfrm>
            <a:off x="5861304" y="1481328"/>
            <a:ext cx="822960" cy="8229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4</a:t>
            </a:r>
            <a:endParaRPr lang="en-US" sz="2400" dirty="0"/>
          </a:p>
        </p:txBody>
      </p:sp>
      <p:sp>
        <p:nvSpPr>
          <p:cNvPr id="28" name="Text 26"/>
          <p:cNvSpPr/>
          <p:nvPr/>
        </p:nvSpPr>
        <p:spPr>
          <a:xfrm>
            <a:off x="5513832" y="2377440"/>
            <a:ext cx="1517904" cy="384048"/>
          </a:xfrm>
          <a:prstGeom prst="rect">
            <a:avLst/>
          </a:prstGeom>
          <a:noFill/>
          <a:ln/>
        </p:spPr>
        <p:txBody>
          <a:bodyPr wrap="square" rtlCol="0" anchor="ctr"/>
          <a:lstStyle/>
          <a:p>
            <a:pPr marL="0" indent="0" algn="ctr">
              <a:buNone/>
            </a:pPr>
            <a:r>
              <a:rPr lang="en-US" sz="1000" b="1" dirty="0">
                <a:solidFill>
                  <a:srgbClr val="FFFFFF"/>
                </a:solidFill>
                <a:latin typeface="Georgia" pitchFamily="34" charset="0"/>
                <a:ea typeface="Georgia" pitchFamily="34" charset="-122"/>
                <a:cs typeface="Georgia" pitchFamily="34" charset="-120"/>
              </a:rPr>
              <a:t>Guardrail</a:t>
            </a:r>
            <a:endParaRPr lang="en-US" sz="1000" dirty="0"/>
          </a:p>
          <a:p>
            <a:pPr marL="0" indent="0" algn="ctr">
              <a:buNone/>
            </a:pPr>
            <a:r>
              <a:rPr lang="en-US" sz="1000" b="1" dirty="0">
                <a:solidFill>
                  <a:srgbClr val="FFFFFF"/>
                </a:solidFill>
                <a:latin typeface="Georgia" pitchFamily="34" charset="0"/>
                <a:ea typeface="Georgia" pitchFamily="34" charset="-122"/>
                <a:cs typeface="Georgia" pitchFamily="34" charset="-120"/>
              </a:rPr>
              <a:t>Check</a:t>
            </a:r>
            <a:endParaRPr lang="en-US" sz="1000" dirty="0"/>
          </a:p>
        </p:txBody>
      </p:sp>
      <p:sp>
        <p:nvSpPr>
          <p:cNvPr id="29" name="Text 27"/>
          <p:cNvSpPr/>
          <p:nvPr/>
        </p:nvSpPr>
        <p:spPr>
          <a:xfrm>
            <a:off x="7077456" y="1773936"/>
            <a:ext cx="128016" cy="457200"/>
          </a:xfrm>
          <a:prstGeom prst="rect">
            <a:avLst/>
          </a:prstGeom>
          <a:noFill/>
          <a:ln/>
        </p:spPr>
        <p:txBody>
          <a:bodyPr wrap="square" rtlCol="0" anchor="ctr"/>
          <a:lstStyle/>
          <a:p>
            <a:pPr marL="0" indent="0" algn="ctr">
              <a:buNone/>
            </a:pPr>
            <a:r>
              <a:rPr lang="en-US" sz="1600" dirty="0">
                <a:solidFill>
                  <a:srgbClr val="94A3B8"/>
                </a:solidFill>
                <a:latin typeface="Georgia" pitchFamily="34" charset="0"/>
                <a:ea typeface="Georgia" pitchFamily="34" charset="-122"/>
                <a:cs typeface="Georgia" pitchFamily="34" charset="-120"/>
              </a:rPr>
              <a:t>→</a:t>
            </a:r>
            <a:endParaRPr lang="en-US" sz="1600" dirty="0"/>
          </a:p>
        </p:txBody>
      </p:sp>
      <p:sp>
        <p:nvSpPr>
          <p:cNvPr id="30" name="Shape 28"/>
          <p:cNvSpPr/>
          <p:nvPr/>
        </p:nvSpPr>
        <p:spPr>
          <a:xfrm>
            <a:off x="7205472" y="1353312"/>
            <a:ext cx="1609344" cy="1417320"/>
          </a:xfrm>
          <a:prstGeom prst="rect">
            <a:avLst/>
          </a:prstGeom>
          <a:solidFill>
            <a:srgbClr val="1A2E55"/>
          </a:solidFill>
          <a:ln/>
        </p:spPr>
      </p:sp>
      <p:sp>
        <p:nvSpPr>
          <p:cNvPr id="31" name="Shape 29"/>
          <p:cNvSpPr/>
          <p:nvPr/>
        </p:nvSpPr>
        <p:spPr>
          <a:xfrm>
            <a:off x="7205472" y="1353312"/>
            <a:ext cx="1609344" cy="73152"/>
          </a:xfrm>
          <a:prstGeom prst="rect">
            <a:avLst/>
          </a:prstGeom>
          <a:solidFill>
            <a:srgbClr val="7C3AED"/>
          </a:solidFill>
          <a:ln w="12700">
            <a:solidFill>
              <a:srgbClr val="7C3AED"/>
            </a:solidFill>
            <a:prstDash val="solid"/>
          </a:ln>
        </p:spPr>
      </p:sp>
      <p:sp>
        <p:nvSpPr>
          <p:cNvPr id="32" name="Shape 30"/>
          <p:cNvSpPr/>
          <p:nvPr/>
        </p:nvSpPr>
        <p:spPr>
          <a:xfrm>
            <a:off x="7598664" y="1481328"/>
            <a:ext cx="822960" cy="822960"/>
          </a:xfrm>
          <a:prstGeom prst="ellipse">
            <a:avLst/>
          </a:prstGeom>
          <a:solidFill>
            <a:srgbClr val="7C3AED"/>
          </a:solidFill>
          <a:ln/>
        </p:spPr>
      </p:sp>
      <p:sp>
        <p:nvSpPr>
          <p:cNvPr id="33" name="Text 31"/>
          <p:cNvSpPr/>
          <p:nvPr/>
        </p:nvSpPr>
        <p:spPr>
          <a:xfrm>
            <a:off x="7598664" y="1481328"/>
            <a:ext cx="822960" cy="822960"/>
          </a:xfrm>
          <a:prstGeom prst="rect">
            <a:avLst/>
          </a:prstGeom>
          <a:noFill/>
          <a:ln/>
        </p:spPr>
        <p:txBody>
          <a:bodyPr wrap="square" rtlCol="0" anchor="ctr"/>
          <a:lstStyle/>
          <a:p>
            <a:pPr marL="0" indent="0" algn="ctr">
              <a:buNone/>
            </a:pPr>
            <a:r>
              <a:rPr lang="en-US" sz="2400" b="1" dirty="0">
                <a:solidFill>
                  <a:srgbClr val="FFFFFF"/>
                </a:solidFill>
                <a:latin typeface="Georgia" pitchFamily="34" charset="0"/>
                <a:ea typeface="Georgia" pitchFamily="34" charset="-122"/>
                <a:cs typeface="Georgia" pitchFamily="34" charset="-120"/>
              </a:rPr>
              <a:t>5</a:t>
            </a:r>
            <a:endParaRPr lang="en-US" sz="2400" dirty="0"/>
          </a:p>
        </p:txBody>
      </p:sp>
      <p:sp>
        <p:nvSpPr>
          <p:cNvPr id="34" name="Text 32"/>
          <p:cNvSpPr/>
          <p:nvPr/>
        </p:nvSpPr>
        <p:spPr>
          <a:xfrm>
            <a:off x="7251192" y="2377440"/>
            <a:ext cx="1517904" cy="384048"/>
          </a:xfrm>
          <a:prstGeom prst="rect">
            <a:avLst/>
          </a:prstGeom>
          <a:noFill/>
          <a:ln/>
        </p:spPr>
        <p:txBody>
          <a:bodyPr wrap="square" rtlCol="0" anchor="ctr"/>
          <a:lstStyle/>
          <a:p>
            <a:pPr marL="0" indent="0" algn="ctr">
              <a:buNone/>
            </a:pPr>
            <a:r>
              <a:rPr lang="en-US" sz="1000" b="1" dirty="0">
                <a:solidFill>
                  <a:srgbClr val="FFFFFF"/>
                </a:solidFill>
                <a:latin typeface="Georgia" pitchFamily="34" charset="0"/>
                <a:ea typeface="Georgia" pitchFamily="34" charset="-122"/>
                <a:cs typeface="Georgia" pitchFamily="34" charset="-120"/>
              </a:rPr>
              <a:t>Persist</a:t>
            </a:r>
            <a:endParaRPr lang="en-US" sz="1000" dirty="0"/>
          </a:p>
          <a:p>
            <a:pPr marL="0" indent="0" algn="ctr">
              <a:buNone/>
            </a:pPr>
            <a:r>
              <a:rPr lang="en-US" sz="1000" b="1" dirty="0">
                <a:solidFill>
                  <a:srgbClr val="FFFFFF"/>
                </a:solidFill>
                <a:latin typeface="Georgia" pitchFamily="34" charset="0"/>
                <a:ea typeface="Georgia" pitchFamily="34" charset="-122"/>
                <a:cs typeface="Georgia" pitchFamily="34" charset="-120"/>
              </a:rPr>
              <a:t>&amp; Render</a:t>
            </a:r>
            <a:endParaRPr lang="en-US" sz="1000" dirty="0"/>
          </a:p>
        </p:txBody>
      </p:sp>
      <p:sp>
        <p:nvSpPr>
          <p:cNvPr id="35" name="Shape 33"/>
          <p:cNvSpPr/>
          <p:nvPr/>
        </p:nvSpPr>
        <p:spPr>
          <a:xfrm>
            <a:off x="256032" y="2926080"/>
            <a:ext cx="8631936" cy="658368"/>
          </a:xfrm>
          <a:prstGeom prst="rect">
            <a:avLst/>
          </a:prstGeom>
          <a:solidFill>
            <a:srgbClr val="0A1628"/>
          </a:solidFill>
          <a:ln/>
        </p:spPr>
      </p:sp>
      <p:sp>
        <p:nvSpPr>
          <p:cNvPr id="36" name="Shape 34"/>
          <p:cNvSpPr/>
          <p:nvPr/>
        </p:nvSpPr>
        <p:spPr>
          <a:xfrm>
            <a:off x="256032" y="2926080"/>
            <a:ext cx="64008" cy="658368"/>
          </a:xfrm>
          <a:prstGeom prst="rect">
            <a:avLst/>
          </a:prstGeom>
          <a:solidFill>
            <a:srgbClr val="F59E0B"/>
          </a:solidFill>
          <a:ln w="12700">
            <a:solidFill>
              <a:srgbClr val="F59E0B"/>
            </a:solidFill>
            <a:prstDash val="solid"/>
          </a:ln>
        </p:spPr>
      </p:sp>
      <p:sp>
        <p:nvSpPr>
          <p:cNvPr id="37" name="Text 35"/>
          <p:cNvSpPr/>
          <p:nvPr/>
        </p:nvSpPr>
        <p:spPr>
          <a:xfrm>
            <a:off x="411480" y="2962656"/>
            <a:ext cx="8321040" cy="274320"/>
          </a:xfrm>
          <a:prstGeom prst="rect">
            <a:avLst/>
          </a:prstGeom>
          <a:noFill/>
          <a:ln/>
        </p:spPr>
        <p:txBody>
          <a:bodyPr wrap="square" rtlCol="0" anchor="ctr"/>
          <a:lstStyle/>
          <a:p>
            <a:pPr marL="0" indent="0">
              <a:buNone/>
            </a:pPr>
            <a:r>
              <a:rPr lang="en-US" sz="1100" b="1" dirty="0">
                <a:solidFill>
                  <a:srgbClr val="F59E0B"/>
                </a:solidFill>
                <a:latin typeface="Georgia" pitchFamily="34" charset="0"/>
                <a:ea typeface="Georgia" pitchFamily="34" charset="-122"/>
                <a:cs typeface="Georgia" pitchFamily="34" charset="-120"/>
              </a:rPr>
              <a:t>ReAct Loop (Phase 3) — Thought → Action → Observation, up to 5 steps</a:t>
            </a:r>
            <a:endParaRPr lang="en-US" sz="1100" dirty="0"/>
          </a:p>
        </p:txBody>
      </p:sp>
      <p:sp>
        <p:nvSpPr>
          <p:cNvPr id="38" name="Text 36"/>
          <p:cNvSpPr/>
          <p:nvPr/>
        </p:nvSpPr>
        <p:spPr>
          <a:xfrm>
            <a:off x="411480" y="3218688"/>
            <a:ext cx="8321040" cy="292608"/>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reschedule_task()  ·  detect_conflicts()  ·  save_state()  — all via structured tool-use.  Every step logged as a TraceStep in agent_trace[].</a:t>
            </a:r>
            <a:endParaRPr lang="en-US" sz="900" dirty="0"/>
          </a:p>
        </p:txBody>
      </p:sp>
      <p:sp>
        <p:nvSpPr>
          <p:cNvPr id="39" name="Shape 37"/>
          <p:cNvSpPr/>
          <p:nvPr/>
        </p:nvSpPr>
        <p:spPr>
          <a:xfrm>
            <a:off x="256032" y="3730752"/>
            <a:ext cx="4160520" cy="1078992"/>
          </a:xfrm>
          <a:prstGeom prst="rect">
            <a:avLst/>
          </a:prstGeom>
          <a:solidFill>
            <a:srgbClr val="1A2E55"/>
          </a:solidFill>
          <a:ln/>
        </p:spPr>
      </p:sp>
      <p:sp>
        <p:nvSpPr>
          <p:cNvPr id="40" name="Shape 38"/>
          <p:cNvSpPr/>
          <p:nvPr/>
        </p:nvSpPr>
        <p:spPr>
          <a:xfrm>
            <a:off x="256032" y="3730752"/>
            <a:ext cx="4160520" cy="64008"/>
          </a:xfrm>
          <a:prstGeom prst="rect">
            <a:avLst/>
          </a:prstGeom>
          <a:solidFill>
            <a:srgbClr val="FF6B35"/>
          </a:solidFill>
          <a:ln w="12700">
            <a:solidFill>
              <a:srgbClr val="FF6B35"/>
            </a:solidFill>
            <a:prstDash val="solid"/>
          </a:ln>
        </p:spPr>
      </p:sp>
      <p:sp>
        <p:nvSpPr>
          <p:cNvPr id="41" name="Text 39"/>
          <p:cNvSpPr/>
          <p:nvPr/>
        </p:nvSpPr>
        <p:spPr>
          <a:xfrm>
            <a:off x="411480" y="3803904"/>
            <a:ext cx="3840480" cy="347472"/>
          </a:xfrm>
          <a:prstGeom prst="rect">
            <a:avLst/>
          </a:prstGeom>
          <a:noFill/>
          <a:ln/>
        </p:spPr>
        <p:txBody>
          <a:bodyPr wrap="square" rtlCol="0" anchor="ctr"/>
          <a:lstStyle/>
          <a:p>
            <a:pPr marL="0" indent="0">
              <a:buNone/>
            </a:pPr>
            <a:r>
              <a:rPr lang="en-US" sz="1150" b="1" dirty="0">
                <a:solidFill>
                  <a:srgbClr val="FF6B35"/>
                </a:solidFill>
                <a:latin typeface="Georgia" pitchFamily="34" charset="0"/>
                <a:ea typeface="Georgia" pitchFamily="34" charset="-122"/>
                <a:cs typeface="Georgia" pitchFamily="34" charset="-120"/>
              </a:rPr>
              <a:t>🤖  Claude Haiku 4.5  —  NL Parser</a:t>
            </a:r>
            <a:endParaRPr lang="en-US" sz="1150" dirty="0"/>
          </a:p>
        </p:txBody>
      </p:sp>
      <p:sp>
        <p:nvSpPr>
          <p:cNvPr id="42" name="Text 40"/>
          <p:cNvSpPr/>
          <p:nvPr/>
        </p:nvSpPr>
        <p:spPr>
          <a:xfrm>
            <a:off x="411480" y="4160520"/>
            <a:ext cx="3858768" cy="594360"/>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Single structured tool-use call extracts: name · duration · priority · is_required · start_time · frequency · pet_name. Returns clarification_request when any field is ambiguous. ~400–600 ms latency. ~6× cheaper than Sonnet on the high-frequency parse path.</a:t>
            </a:r>
            <a:endParaRPr lang="en-US" sz="850" dirty="0"/>
          </a:p>
        </p:txBody>
      </p:sp>
      <p:sp>
        <p:nvSpPr>
          <p:cNvPr id="43" name="Shape 41"/>
          <p:cNvSpPr/>
          <p:nvPr/>
        </p:nvSpPr>
        <p:spPr>
          <a:xfrm>
            <a:off x="4727448" y="3730752"/>
            <a:ext cx="4160520" cy="1078992"/>
          </a:xfrm>
          <a:prstGeom prst="rect">
            <a:avLst/>
          </a:prstGeom>
          <a:solidFill>
            <a:srgbClr val="1A2E55"/>
          </a:solidFill>
          <a:ln/>
        </p:spPr>
      </p:sp>
      <p:sp>
        <p:nvSpPr>
          <p:cNvPr id="44" name="Shape 42"/>
          <p:cNvSpPr/>
          <p:nvPr/>
        </p:nvSpPr>
        <p:spPr>
          <a:xfrm>
            <a:off x="4727448" y="3730752"/>
            <a:ext cx="4160520" cy="64008"/>
          </a:xfrm>
          <a:prstGeom prst="rect">
            <a:avLst/>
          </a:prstGeom>
          <a:solidFill>
            <a:srgbClr val="2EC4B6"/>
          </a:solidFill>
          <a:ln w="12700">
            <a:solidFill>
              <a:srgbClr val="2EC4B6"/>
            </a:solidFill>
            <a:prstDash val="solid"/>
          </a:ln>
        </p:spPr>
      </p:sp>
      <p:sp>
        <p:nvSpPr>
          <p:cNvPr id="45" name="Text 43"/>
          <p:cNvSpPr/>
          <p:nvPr/>
        </p:nvSpPr>
        <p:spPr>
          <a:xfrm>
            <a:off x="4882896" y="3803904"/>
            <a:ext cx="3840480" cy="347472"/>
          </a:xfrm>
          <a:prstGeom prst="rect">
            <a:avLst/>
          </a:prstGeom>
          <a:noFill/>
          <a:ln/>
        </p:spPr>
        <p:txBody>
          <a:bodyPr wrap="square" rtlCol="0" anchor="ctr"/>
          <a:lstStyle/>
          <a:p>
            <a:pPr marL="0" indent="0">
              <a:buNone/>
            </a:pPr>
            <a:r>
              <a:rPr lang="en-US" sz="1150" b="1" dirty="0">
                <a:solidFill>
                  <a:srgbClr val="2EC4B6"/>
                </a:solidFill>
                <a:latin typeface="Georgia" pitchFamily="34" charset="0"/>
                <a:ea typeface="Georgia" pitchFamily="34" charset="-122"/>
                <a:cs typeface="Georgia" pitchFamily="34" charset="-120"/>
              </a:rPr>
              <a:t>🧠  Claude Sonnet 4.6  —  ReAct Agent</a:t>
            </a:r>
            <a:endParaRPr lang="en-US" sz="1150" dirty="0"/>
          </a:p>
        </p:txBody>
      </p:sp>
      <p:sp>
        <p:nvSpPr>
          <p:cNvPr id="46" name="Text 44"/>
          <p:cNvSpPr/>
          <p:nvPr/>
        </p:nvSpPr>
        <p:spPr>
          <a:xfrm>
            <a:off x="4882896" y="4160520"/>
            <a:ext cx="3858768" cy="594360"/>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Multi-turn reasoning loop across a schedule graph. Calls reschedule_task to move start_time, then detect_conflicts to verify. Terminates on conflict_count=0 or step budget exhaustion. Escalates unresolved conflicts to the owner with full explanation.</a:t>
            </a:r>
            <a:endParaRPr lang="en-US" sz="850" dirty="0"/>
          </a:p>
        </p:txBody>
      </p:sp>
      <p:sp>
        <p:nvSpPr>
          <p:cNvPr id="47" name="Shape 45"/>
          <p:cNvSpPr/>
          <p:nvPr/>
        </p:nvSpPr>
        <p:spPr>
          <a:xfrm>
            <a:off x="0" y="5020056"/>
            <a:ext cx="9144000" cy="123444"/>
          </a:xfrm>
          <a:prstGeom prst="rect">
            <a:avLst/>
          </a:prstGeom>
          <a:solidFill>
            <a:srgbClr val="FF6B35"/>
          </a:solidFill>
          <a:ln w="12700">
            <a:solidFill>
              <a:srgbClr val="FF6B35"/>
            </a:solidFill>
            <a:prstDash val="solid"/>
          </a:ln>
        </p:spPr>
      </p:sp>
      <p:sp>
        <p:nvSpPr>
          <p:cNvPr id="48" name="TextBox 47">
            <a:extLst>
              <a:ext uri="{FF2B5EF4-FFF2-40B4-BE49-F238E27FC236}">
                <a16:creationId xmlns:a16="http://schemas.microsoft.com/office/drawing/2014/main" id="{E57C59F9-C135-3C6F-3583-0C96A03BBC5D}"/>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FF6B35"/>
          </a:solidFill>
          <a:ln w="12700">
            <a:solidFill>
              <a:srgbClr val="FF6B35"/>
            </a:solidFill>
            <a:prstDash val="solid"/>
          </a:ln>
        </p:spPr>
      </p:sp>
      <p:sp>
        <p:nvSpPr>
          <p:cNvPr id="3" name="Shape 1"/>
          <p:cNvSpPr/>
          <p:nvPr/>
        </p:nvSpPr>
        <p:spPr>
          <a:xfrm>
            <a:off x="457200" y="182880"/>
            <a:ext cx="1874520" cy="246888"/>
          </a:xfrm>
          <a:prstGeom prst="roundRect">
            <a:avLst>
              <a:gd name="adj" fmla="val 14815"/>
            </a:avLst>
          </a:prstGeom>
          <a:solidFill>
            <a:srgbClr val="FF6B35"/>
          </a:solidFill>
          <a:ln w="12700">
            <a:solidFill>
              <a:srgbClr val="FF6B35"/>
            </a:solidFill>
            <a:prstDash val="solid"/>
          </a:ln>
        </p:spPr>
      </p:sp>
      <p:sp>
        <p:nvSpPr>
          <p:cNvPr id="4" name="Text 2"/>
          <p:cNvSpPr/>
          <p:nvPr/>
        </p:nvSpPr>
        <p:spPr>
          <a:xfrm>
            <a:off x="457200" y="182880"/>
            <a:ext cx="1874520" cy="246888"/>
          </a:xfrm>
          <a:prstGeom prst="rect">
            <a:avLst/>
          </a:prstGeom>
          <a:noFill/>
          <a:ln/>
        </p:spPr>
        <p:txBody>
          <a:bodyPr wrap="square" rtlCol="0" anchor="ctr"/>
          <a:lstStyle/>
          <a:p>
            <a:pPr marL="0" indent="0" algn="ctr">
              <a:buNone/>
            </a:pPr>
            <a:r>
              <a:rPr lang="en-US" sz="800" b="1" kern="0" spc="200" dirty="0">
                <a:solidFill>
                  <a:srgbClr val="FFFFFF"/>
                </a:solidFill>
                <a:latin typeface="Calibri" pitchFamily="34" charset="0"/>
                <a:ea typeface="Calibri" pitchFamily="34" charset="-122"/>
                <a:cs typeface="Calibri" pitchFamily="34" charset="-120"/>
              </a:rPr>
              <a:t>THE ARCHITECTURE</a:t>
            </a:r>
            <a:endParaRPr lang="en-US" sz="800" dirty="0"/>
          </a:p>
        </p:txBody>
      </p:sp>
      <p:sp>
        <p:nvSpPr>
          <p:cNvPr id="5" name="Text 3"/>
          <p:cNvSpPr/>
          <p:nvPr/>
        </p:nvSpPr>
        <p:spPr>
          <a:xfrm>
            <a:off x="457200" y="548640"/>
            <a:ext cx="8595360" cy="685800"/>
          </a:xfrm>
          <a:prstGeom prst="rect">
            <a:avLst/>
          </a:prstGeom>
          <a:noFill/>
          <a:ln/>
        </p:spPr>
        <p:txBody>
          <a:bodyPr wrap="square" rtlCol="0" anchor="ctr"/>
          <a:lstStyle/>
          <a:p>
            <a:pPr marL="0" indent="0">
              <a:buNone/>
            </a:pPr>
            <a:r>
              <a:rPr lang="en-US" sz="3000" b="1" dirty="0">
                <a:solidFill>
                  <a:srgbClr val="101B35"/>
                </a:solidFill>
                <a:latin typeface="Georgia" pitchFamily="34" charset="0"/>
                <a:ea typeface="Georgia" pitchFamily="34" charset="-122"/>
                <a:cs typeface="Georgia" pitchFamily="34" charset="-120"/>
              </a:rPr>
              <a:t>Nine LLM Tools + One Injection-Proof Guardrail</a:t>
            </a:r>
            <a:endParaRPr lang="en-US" sz="3000" dirty="0"/>
          </a:p>
        </p:txBody>
      </p:sp>
      <p:sp>
        <p:nvSpPr>
          <p:cNvPr id="6" name="Shape 4"/>
          <p:cNvSpPr/>
          <p:nvPr/>
        </p:nvSpPr>
        <p:spPr>
          <a:xfrm>
            <a:off x="320040" y="1371600"/>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7" name="Shape 5"/>
          <p:cNvSpPr/>
          <p:nvPr/>
        </p:nvSpPr>
        <p:spPr>
          <a:xfrm>
            <a:off x="393192" y="1463040"/>
            <a:ext cx="347472" cy="347472"/>
          </a:xfrm>
          <a:prstGeom prst="ellipse">
            <a:avLst/>
          </a:prstGeom>
          <a:solidFill>
            <a:srgbClr val="2EC4B6"/>
          </a:solidFill>
          <a:ln/>
        </p:spPr>
      </p:sp>
      <p:sp>
        <p:nvSpPr>
          <p:cNvPr id="8" name="Text 6"/>
          <p:cNvSpPr/>
          <p:nvPr/>
        </p:nvSpPr>
        <p:spPr>
          <a:xfrm>
            <a:off x="393192" y="1463040"/>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9" name="Text 7"/>
          <p:cNvSpPr/>
          <p:nvPr/>
        </p:nvSpPr>
        <p:spPr>
          <a:xfrm>
            <a:off x="822960" y="1463040"/>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get_all_tasks</a:t>
            </a:r>
            <a:endParaRPr lang="en-US" sz="950" dirty="0"/>
          </a:p>
        </p:txBody>
      </p:sp>
      <p:sp>
        <p:nvSpPr>
          <p:cNvPr id="10" name="Shape 8"/>
          <p:cNvSpPr/>
          <p:nvPr/>
        </p:nvSpPr>
        <p:spPr>
          <a:xfrm>
            <a:off x="2331720" y="1371600"/>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11" name="Shape 9"/>
          <p:cNvSpPr/>
          <p:nvPr/>
        </p:nvSpPr>
        <p:spPr>
          <a:xfrm>
            <a:off x="2404872" y="1463040"/>
            <a:ext cx="347472" cy="347472"/>
          </a:xfrm>
          <a:prstGeom prst="ellipse">
            <a:avLst/>
          </a:prstGeom>
          <a:solidFill>
            <a:srgbClr val="2EC4B6"/>
          </a:solidFill>
          <a:ln/>
        </p:spPr>
      </p:sp>
      <p:sp>
        <p:nvSpPr>
          <p:cNvPr id="12" name="Text 10"/>
          <p:cNvSpPr/>
          <p:nvPr/>
        </p:nvSpPr>
        <p:spPr>
          <a:xfrm>
            <a:off x="2404872" y="1463040"/>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3" name="Text 11"/>
          <p:cNvSpPr/>
          <p:nvPr/>
        </p:nvSpPr>
        <p:spPr>
          <a:xfrm>
            <a:off x="2834640" y="1463040"/>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generate_schedule</a:t>
            </a:r>
            <a:endParaRPr lang="en-US" sz="950" dirty="0"/>
          </a:p>
        </p:txBody>
      </p:sp>
      <p:sp>
        <p:nvSpPr>
          <p:cNvPr id="14" name="Shape 12"/>
          <p:cNvSpPr/>
          <p:nvPr/>
        </p:nvSpPr>
        <p:spPr>
          <a:xfrm>
            <a:off x="4343400" y="1371600"/>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15" name="Shape 13"/>
          <p:cNvSpPr/>
          <p:nvPr/>
        </p:nvSpPr>
        <p:spPr>
          <a:xfrm>
            <a:off x="4416552" y="1463040"/>
            <a:ext cx="347472" cy="347472"/>
          </a:xfrm>
          <a:prstGeom prst="ellipse">
            <a:avLst/>
          </a:prstGeom>
          <a:solidFill>
            <a:srgbClr val="2EC4B6"/>
          </a:solidFill>
          <a:ln/>
        </p:spPr>
      </p:sp>
      <p:sp>
        <p:nvSpPr>
          <p:cNvPr id="16" name="Text 14"/>
          <p:cNvSpPr/>
          <p:nvPr/>
        </p:nvSpPr>
        <p:spPr>
          <a:xfrm>
            <a:off x="4416552" y="1463040"/>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7" name="Text 15"/>
          <p:cNvSpPr/>
          <p:nvPr/>
        </p:nvSpPr>
        <p:spPr>
          <a:xfrm>
            <a:off x="4846320" y="1463040"/>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detect_conflicts</a:t>
            </a:r>
            <a:endParaRPr lang="en-US" sz="950" dirty="0"/>
          </a:p>
        </p:txBody>
      </p:sp>
      <p:sp>
        <p:nvSpPr>
          <p:cNvPr id="18" name="Shape 16"/>
          <p:cNvSpPr/>
          <p:nvPr/>
        </p:nvSpPr>
        <p:spPr>
          <a:xfrm>
            <a:off x="320040" y="1993392"/>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19" name="Shape 17"/>
          <p:cNvSpPr/>
          <p:nvPr/>
        </p:nvSpPr>
        <p:spPr>
          <a:xfrm>
            <a:off x="393192" y="2084832"/>
            <a:ext cx="347472" cy="347472"/>
          </a:xfrm>
          <a:prstGeom prst="ellipse">
            <a:avLst/>
          </a:prstGeom>
          <a:solidFill>
            <a:srgbClr val="FF6B35"/>
          </a:solidFill>
          <a:ln/>
        </p:spPr>
      </p:sp>
      <p:sp>
        <p:nvSpPr>
          <p:cNvPr id="20" name="Text 18"/>
          <p:cNvSpPr/>
          <p:nvPr/>
        </p:nvSpPr>
        <p:spPr>
          <a:xfrm>
            <a:off x="393192" y="2084832"/>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1" name="Text 19"/>
          <p:cNvSpPr/>
          <p:nvPr/>
        </p:nvSpPr>
        <p:spPr>
          <a:xfrm>
            <a:off x="822960" y="2084832"/>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add_task</a:t>
            </a:r>
            <a:endParaRPr lang="en-US" sz="950" dirty="0"/>
          </a:p>
        </p:txBody>
      </p:sp>
      <p:sp>
        <p:nvSpPr>
          <p:cNvPr id="22" name="Shape 20"/>
          <p:cNvSpPr/>
          <p:nvPr/>
        </p:nvSpPr>
        <p:spPr>
          <a:xfrm>
            <a:off x="2331720" y="1993392"/>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23" name="Shape 21"/>
          <p:cNvSpPr/>
          <p:nvPr/>
        </p:nvSpPr>
        <p:spPr>
          <a:xfrm>
            <a:off x="2404872" y="2084832"/>
            <a:ext cx="347472" cy="347472"/>
          </a:xfrm>
          <a:prstGeom prst="ellipse">
            <a:avLst/>
          </a:prstGeom>
          <a:solidFill>
            <a:srgbClr val="FF6B35"/>
          </a:solidFill>
          <a:ln/>
        </p:spPr>
      </p:sp>
      <p:sp>
        <p:nvSpPr>
          <p:cNvPr id="24" name="Text 22"/>
          <p:cNvSpPr/>
          <p:nvPr/>
        </p:nvSpPr>
        <p:spPr>
          <a:xfrm>
            <a:off x="2404872" y="2084832"/>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25" name="Text 23"/>
          <p:cNvSpPr/>
          <p:nvPr/>
        </p:nvSpPr>
        <p:spPr>
          <a:xfrm>
            <a:off x="2834640" y="2084832"/>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reschedule_task</a:t>
            </a:r>
            <a:endParaRPr lang="en-US" sz="950" dirty="0"/>
          </a:p>
        </p:txBody>
      </p:sp>
      <p:sp>
        <p:nvSpPr>
          <p:cNvPr id="26" name="Shape 24"/>
          <p:cNvSpPr/>
          <p:nvPr/>
        </p:nvSpPr>
        <p:spPr>
          <a:xfrm>
            <a:off x="4343400" y="1993392"/>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27" name="Shape 25"/>
          <p:cNvSpPr/>
          <p:nvPr/>
        </p:nvSpPr>
        <p:spPr>
          <a:xfrm>
            <a:off x="4416552" y="2084832"/>
            <a:ext cx="347472" cy="347472"/>
          </a:xfrm>
          <a:prstGeom prst="ellipse">
            <a:avLst/>
          </a:prstGeom>
          <a:solidFill>
            <a:srgbClr val="FF6B35"/>
          </a:solidFill>
          <a:ln/>
        </p:spPr>
      </p:sp>
      <p:sp>
        <p:nvSpPr>
          <p:cNvPr id="28" name="Text 26"/>
          <p:cNvSpPr/>
          <p:nvPr/>
        </p:nvSpPr>
        <p:spPr>
          <a:xfrm>
            <a:off x="4416552" y="2084832"/>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29" name="Text 27"/>
          <p:cNvSpPr/>
          <p:nvPr/>
        </p:nvSpPr>
        <p:spPr>
          <a:xfrm>
            <a:off x="4846320" y="2084832"/>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complete_task</a:t>
            </a:r>
            <a:endParaRPr lang="en-US" sz="950" dirty="0"/>
          </a:p>
        </p:txBody>
      </p:sp>
      <p:sp>
        <p:nvSpPr>
          <p:cNvPr id="30" name="Shape 28"/>
          <p:cNvSpPr/>
          <p:nvPr/>
        </p:nvSpPr>
        <p:spPr>
          <a:xfrm>
            <a:off x="320040" y="2615184"/>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31" name="Shape 29"/>
          <p:cNvSpPr/>
          <p:nvPr/>
        </p:nvSpPr>
        <p:spPr>
          <a:xfrm>
            <a:off x="393192" y="2706624"/>
            <a:ext cx="347472" cy="347472"/>
          </a:xfrm>
          <a:prstGeom prst="ellipse">
            <a:avLst/>
          </a:prstGeom>
          <a:solidFill>
            <a:srgbClr val="F59E0B"/>
          </a:solidFill>
          <a:ln/>
        </p:spPr>
      </p:sp>
      <p:sp>
        <p:nvSpPr>
          <p:cNvPr id="32" name="Text 30"/>
          <p:cNvSpPr/>
          <p:nvPr/>
        </p:nvSpPr>
        <p:spPr>
          <a:xfrm>
            <a:off x="393192" y="2706624"/>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33" name="Text 31"/>
          <p:cNvSpPr/>
          <p:nvPr/>
        </p:nvSpPr>
        <p:spPr>
          <a:xfrm>
            <a:off x="822960" y="2706624"/>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add_pet</a:t>
            </a:r>
            <a:endParaRPr lang="en-US" sz="950" dirty="0"/>
          </a:p>
        </p:txBody>
      </p:sp>
      <p:sp>
        <p:nvSpPr>
          <p:cNvPr id="34" name="Shape 32"/>
          <p:cNvSpPr/>
          <p:nvPr/>
        </p:nvSpPr>
        <p:spPr>
          <a:xfrm>
            <a:off x="2331720" y="2615184"/>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35" name="Shape 33"/>
          <p:cNvSpPr/>
          <p:nvPr/>
        </p:nvSpPr>
        <p:spPr>
          <a:xfrm>
            <a:off x="2404872" y="2706624"/>
            <a:ext cx="347472" cy="347472"/>
          </a:xfrm>
          <a:prstGeom prst="ellipse">
            <a:avLst/>
          </a:prstGeom>
          <a:solidFill>
            <a:srgbClr val="F59E0B"/>
          </a:solidFill>
          <a:ln/>
        </p:spPr>
      </p:sp>
      <p:sp>
        <p:nvSpPr>
          <p:cNvPr id="36" name="Text 34"/>
          <p:cNvSpPr/>
          <p:nvPr/>
        </p:nvSpPr>
        <p:spPr>
          <a:xfrm>
            <a:off x="2404872" y="2706624"/>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37" name="Text 35"/>
          <p:cNvSpPr/>
          <p:nvPr/>
        </p:nvSpPr>
        <p:spPr>
          <a:xfrm>
            <a:off x="2834640" y="2706624"/>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filter_tasks</a:t>
            </a:r>
            <a:endParaRPr lang="en-US" sz="950" dirty="0"/>
          </a:p>
        </p:txBody>
      </p:sp>
      <p:sp>
        <p:nvSpPr>
          <p:cNvPr id="38" name="Shape 36"/>
          <p:cNvSpPr/>
          <p:nvPr/>
        </p:nvSpPr>
        <p:spPr>
          <a:xfrm>
            <a:off x="4343400" y="2615184"/>
            <a:ext cx="1901952" cy="530352"/>
          </a:xfrm>
          <a:prstGeom prst="rect">
            <a:avLst/>
          </a:prstGeom>
          <a:solidFill>
            <a:srgbClr val="FFFFFF"/>
          </a:solidFill>
          <a:ln/>
          <a:effectLst>
            <a:outerShdw blurRad="101600" dist="25400" dir="8100000" algn="bl" rotWithShape="0">
              <a:srgbClr val="000000">
                <a:alpha val="12000"/>
              </a:srgbClr>
            </a:outerShdw>
          </a:effectLst>
        </p:spPr>
      </p:sp>
      <p:sp>
        <p:nvSpPr>
          <p:cNvPr id="39" name="Shape 37"/>
          <p:cNvSpPr/>
          <p:nvPr/>
        </p:nvSpPr>
        <p:spPr>
          <a:xfrm>
            <a:off x="4416552" y="2706624"/>
            <a:ext cx="347472" cy="347472"/>
          </a:xfrm>
          <a:prstGeom prst="ellipse">
            <a:avLst/>
          </a:prstGeom>
          <a:solidFill>
            <a:srgbClr val="7C3AED"/>
          </a:solidFill>
          <a:ln/>
        </p:spPr>
      </p:sp>
      <p:sp>
        <p:nvSpPr>
          <p:cNvPr id="40" name="Text 38"/>
          <p:cNvSpPr/>
          <p:nvPr/>
        </p:nvSpPr>
        <p:spPr>
          <a:xfrm>
            <a:off x="4416552" y="2706624"/>
            <a:ext cx="347472" cy="347472"/>
          </a:xfrm>
          <a:prstGeom prst="rect">
            <a:avLst/>
          </a:prstGeom>
          <a:noFill/>
          <a:ln/>
        </p:spPr>
        <p:txBody>
          <a:bodyPr wrap="square"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41" name="Text 39"/>
          <p:cNvSpPr/>
          <p:nvPr/>
        </p:nvSpPr>
        <p:spPr>
          <a:xfrm>
            <a:off x="4846320" y="2706624"/>
            <a:ext cx="1335024" cy="347472"/>
          </a:xfrm>
          <a:prstGeom prst="rect">
            <a:avLst/>
          </a:prstGeom>
          <a:noFill/>
          <a:ln/>
        </p:spPr>
        <p:txBody>
          <a:bodyPr wrap="square" rtlCol="0" anchor="ctr"/>
          <a:lstStyle/>
          <a:p>
            <a:pPr marL="0" indent="0">
              <a:buNone/>
            </a:pPr>
            <a:r>
              <a:rPr lang="en-US" sz="950" b="1" dirty="0">
                <a:solidFill>
                  <a:srgbClr val="101B35"/>
                </a:solidFill>
                <a:latin typeface="Consolas" pitchFamily="34" charset="0"/>
                <a:ea typeface="Consolas" pitchFamily="34" charset="-122"/>
                <a:cs typeface="Consolas" pitchFamily="34" charset="-120"/>
              </a:rPr>
              <a:t>save_state</a:t>
            </a:r>
            <a:endParaRPr lang="en-US" sz="950" dirty="0"/>
          </a:p>
        </p:txBody>
      </p:sp>
      <p:sp>
        <p:nvSpPr>
          <p:cNvPr id="42" name="Shape 40"/>
          <p:cNvSpPr/>
          <p:nvPr/>
        </p:nvSpPr>
        <p:spPr>
          <a:xfrm>
            <a:off x="6355080" y="1371600"/>
            <a:ext cx="2514600" cy="1865376"/>
          </a:xfrm>
          <a:prstGeom prst="rect">
            <a:avLst/>
          </a:prstGeom>
          <a:solidFill>
            <a:srgbClr val="FEF2F2"/>
          </a:solidFill>
          <a:ln/>
          <a:effectLst>
            <a:outerShdw blurRad="101600" dist="25400" dir="8100000" algn="bl" rotWithShape="0">
              <a:srgbClr val="000000">
                <a:alpha val="12000"/>
              </a:srgbClr>
            </a:outerShdw>
          </a:effectLst>
        </p:spPr>
      </p:sp>
      <p:sp>
        <p:nvSpPr>
          <p:cNvPr id="43" name="Shape 41"/>
          <p:cNvSpPr/>
          <p:nvPr/>
        </p:nvSpPr>
        <p:spPr>
          <a:xfrm>
            <a:off x="6355080" y="1371600"/>
            <a:ext cx="2514600" cy="82296"/>
          </a:xfrm>
          <a:prstGeom prst="rect">
            <a:avLst/>
          </a:prstGeom>
          <a:solidFill>
            <a:srgbClr val="DC2626"/>
          </a:solidFill>
          <a:ln w="12700">
            <a:solidFill>
              <a:srgbClr val="DC2626"/>
            </a:solidFill>
            <a:prstDash val="solid"/>
          </a:ln>
        </p:spPr>
      </p:sp>
      <p:sp>
        <p:nvSpPr>
          <p:cNvPr id="44" name="Text 42"/>
          <p:cNvSpPr/>
          <p:nvPr/>
        </p:nvSpPr>
        <p:spPr>
          <a:xfrm>
            <a:off x="6473952" y="1463040"/>
            <a:ext cx="2286000" cy="347472"/>
          </a:xfrm>
          <a:prstGeom prst="rect">
            <a:avLst/>
          </a:prstGeom>
          <a:noFill/>
          <a:ln/>
        </p:spPr>
        <p:txBody>
          <a:bodyPr wrap="square" rtlCol="0" anchor="ctr"/>
          <a:lstStyle/>
          <a:p>
            <a:pPr marL="0" indent="0">
              <a:buNone/>
            </a:pPr>
            <a:r>
              <a:rPr lang="en-US" sz="1300" b="1" dirty="0">
                <a:solidFill>
                  <a:srgbClr val="DC2626"/>
                </a:solidFill>
                <a:latin typeface="Georgia" pitchFamily="34" charset="0"/>
                <a:ea typeface="Georgia" pitchFamily="34" charset="-122"/>
                <a:cs typeface="Georgia" pitchFamily="34" charset="-120"/>
              </a:rPr>
              <a:t>🛡️  Tool 10</a:t>
            </a:r>
            <a:endParaRPr lang="en-US" sz="1300" dirty="0"/>
          </a:p>
        </p:txBody>
      </p:sp>
      <p:sp>
        <p:nvSpPr>
          <p:cNvPr id="45" name="Text 43"/>
          <p:cNvSpPr/>
          <p:nvPr/>
        </p:nvSpPr>
        <p:spPr>
          <a:xfrm>
            <a:off x="6473952" y="1810512"/>
            <a:ext cx="2286000" cy="292608"/>
          </a:xfrm>
          <a:prstGeom prst="rect">
            <a:avLst/>
          </a:prstGeom>
          <a:noFill/>
          <a:ln/>
        </p:spPr>
        <p:txBody>
          <a:bodyPr wrap="square" rtlCol="0" anchor="ctr"/>
          <a:lstStyle/>
          <a:p>
            <a:pPr marL="0" indent="0">
              <a:buNone/>
            </a:pPr>
            <a:r>
              <a:rPr lang="en-US" sz="900" dirty="0">
                <a:solidFill>
                  <a:srgbClr val="DC2626"/>
                </a:solidFill>
                <a:latin typeface="Consolas" pitchFamily="34" charset="0"/>
                <a:ea typeface="Consolas" pitchFamily="34" charset="-122"/>
                <a:cs typeface="Consolas" pitchFamily="34" charset="-120"/>
              </a:rPr>
              <a:t>validate_required_tasks</a:t>
            </a:r>
            <a:endParaRPr lang="en-US" sz="900" dirty="0"/>
          </a:p>
        </p:txBody>
      </p:sp>
      <p:sp>
        <p:nvSpPr>
          <p:cNvPr id="46" name="Text 44"/>
          <p:cNvSpPr/>
          <p:nvPr/>
        </p:nvSpPr>
        <p:spPr>
          <a:xfrm>
            <a:off x="6473952" y="2121408"/>
            <a:ext cx="2304288" cy="1024128"/>
          </a:xfrm>
          <a:prstGeom prst="rect">
            <a:avLst/>
          </a:prstGeom>
          <a:noFill/>
          <a:ln/>
        </p:spPr>
        <p:txBody>
          <a:bodyPr wrap="square" rtlCol="0" anchor="ctr"/>
          <a:lstStyle/>
          <a:p>
            <a:pPr marL="0" indent="0">
              <a:buNone/>
            </a:pPr>
            <a:r>
              <a:rPr lang="en-US" sz="850" dirty="0">
                <a:solidFill>
                  <a:srgbClr val="7F1D1D"/>
                </a:solidFill>
                <a:latin typeface="Calibri" pitchFamily="34" charset="0"/>
                <a:ea typeface="Calibri" pitchFamily="34" charset="-122"/>
                <a:cs typeface="Calibri" pitchFamily="34" charset="-120"/>
              </a:rPr>
              <a:t>NOT in TOOL_SCHEMAS</a:t>
            </a:r>
            <a:endParaRPr lang="en-US" sz="850" dirty="0"/>
          </a:p>
          <a:p>
            <a:pPr marL="0" indent="0">
              <a:buNone/>
            </a:pPr>
            <a:endParaRPr lang="en-US" sz="850" dirty="0"/>
          </a:p>
          <a:p>
            <a:pPr marL="0" indent="0">
              <a:buNone/>
            </a:pPr>
            <a:r>
              <a:rPr lang="en-US" sz="850" dirty="0">
                <a:solidFill>
                  <a:srgbClr val="7F1D1D"/>
                </a:solidFill>
                <a:latin typeface="Calibri" pitchFamily="34" charset="0"/>
                <a:ea typeface="Calibri" pitchFamily="34" charset="-122"/>
                <a:cs typeface="Calibri" pitchFamily="34" charset="-120"/>
              </a:rPr>
              <a:t>Structurally uncallable by the LLM. Called by Orchestrator only. Derives required-task set from live Owner object — never from LLM output. Auto-restores dropped tasks. Logs every violation.</a:t>
            </a:r>
            <a:endParaRPr lang="en-US" sz="850" dirty="0"/>
          </a:p>
        </p:txBody>
      </p:sp>
      <p:sp>
        <p:nvSpPr>
          <p:cNvPr id="47" name="Shape 45"/>
          <p:cNvSpPr/>
          <p:nvPr/>
        </p:nvSpPr>
        <p:spPr>
          <a:xfrm>
            <a:off x="320040" y="3493008"/>
            <a:ext cx="2816352" cy="1261872"/>
          </a:xfrm>
          <a:prstGeom prst="rect">
            <a:avLst/>
          </a:prstGeom>
          <a:solidFill>
            <a:srgbClr val="FFFFFF"/>
          </a:solidFill>
          <a:ln/>
          <a:effectLst>
            <a:outerShdw blurRad="101600" dist="25400" dir="8100000" algn="bl" rotWithShape="0">
              <a:srgbClr val="000000">
                <a:alpha val="12000"/>
              </a:srgbClr>
            </a:outerShdw>
          </a:effectLst>
        </p:spPr>
      </p:sp>
      <p:sp>
        <p:nvSpPr>
          <p:cNvPr id="48" name="Shape 46"/>
          <p:cNvSpPr/>
          <p:nvPr/>
        </p:nvSpPr>
        <p:spPr>
          <a:xfrm>
            <a:off x="320040" y="3493008"/>
            <a:ext cx="64008" cy="1261872"/>
          </a:xfrm>
          <a:prstGeom prst="rect">
            <a:avLst/>
          </a:prstGeom>
          <a:solidFill>
            <a:srgbClr val="2EC4B6"/>
          </a:solidFill>
          <a:ln w="12700">
            <a:solidFill>
              <a:srgbClr val="2EC4B6"/>
            </a:solidFill>
            <a:prstDash val="solid"/>
          </a:ln>
        </p:spPr>
      </p:sp>
      <p:sp>
        <p:nvSpPr>
          <p:cNvPr id="49" name="Text 47"/>
          <p:cNvSpPr/>
          <p:nvPr/>
        </p:nvSpPr>
        <p:spPr>
          <a:xfrm>
            <a:off x="502920" y="3547872"/>
            <a:ext cx="2514600" cy="347472"/>
          </a:xfrm>
          <a:prstGeom prst="rect">
            <a:avLst/>
          </a:prstGeom>
          <a:noFill/>
          <a:ln/>
        </p:spPr>
        <p:txBody>
          <a:bodyPr wrap="square" rtlCol="0" anchor="ctr"/>
          <a:lstStyle/>
          <a:p>
            <a:pPr marL="0" indent="0">
              <a:buNone/>
            </a:pPr>
            <a:r>
              <a:rPr lang="en-US" sz="1050" b="1" dirty="0">
                <a:solidFill>
                  <a:srgbClr val="101B35"/>
                </a:solidFill>
                <a:latin typeface="Georgia" pitchFamily="34" charset="0"/>
                <a:ea typeface="Georgia" pitchFamily="34" charset="-122"/>
                <a:cs typeface="Georgia" pitchFamily="34" charset="-120"/>
              </a:rPr>
              <a:t>⚡  Deterministic baseline first</a:t>
            </a:r>
            <a:endParaRPr lang="en-US" sz="1050" dirty="0"/>
          </a:p>
        </p:txBody>
      </p:sp>
      <p:sp>
        <p:nvSpPr>
          <p:cNvPr id="50" name="Text 48"/>
          <p:cNvSpPr/>
          <p:nvPr/>
        </p:nvSpPr>
        <p:spPr>
          <a:xfrm>
            <a:off x="502920" y="3913632"/>
            <a:ext cx="2560320" cy="777240"/>
          </a:xfrm>
          <a:prstGeom prst="rect">
            <a:avLst/>
          </a:prstGeom>
          <a:noFill/>
          <a:ln/>
        </p:spPr>
        <p:txBody>
          <a:bodyPr wrap="square" rtlCol="0" anchor="ctr"/>
          <a:lstStyle/>
          <a:p>
            <a:pPr marL="0" indent="0">
              <a:buNone/>
            </a:pPr>
            <a:r>
              <a:rPr lang="en-US" sz="850" dirty="0">
                <a:solidFill>
                  <a:srgbClr val="475569"/>
                </a:solidFill>
                <a:latin typeface="Calibri" pitchFamily="34" charset="0"/>
                <a:ea typeface="Calibri" pitchFamily="34" charset="-122"/>
                <a:cs typeface="Calibri" pitchFamily="34" charset="-120"/>
              </a:rPr>
              <a:t>Greedy scheduler runs in microseconds before any API call. Agent only activates when conflicts exist — avoiding unnecessary API spend.</a:t>
            </a:r>
            <a:endParaRPr lang="en-US" sz="850" dirty="0"/>
          </a:p>
        </p:txBody>
      </p:sp>
      <p:sp>
        <p:nvSpPr>
          <p:cNvPr id="51" name="Shape 49"/>
          <p:cNvSpPr/>
          <p:nvPr/>
        </p:nvSpPr>
        <p:spPr>
          <a:xfrm>
            <a:off x="3264408" y="3493008"/>
            <a:ext cx="2816352" cy="1261872"/>
          </a:xfrm>
          <a:prstGeom prst="rect">
            <a:avLst/>
          </a:prstGeom>
          <a:solidFill>
            <a:srgbClr val="FFFFFF"/>
          </a:solidFill>
          <a:ln/>
          <a:effectLst>
            <a:outerShdw blurRad="101600" dist="25400" dir="8100000" algn="bl" rotWithShape="0">
              <a:srgbClr val="000000">
                <a:alpha val="12000"/>
              </a:srgbClr>
            </a:outerShdw>
          </a:effectLst>
        </p:spPr>
      </p:sp>
      <p:sp>
        <p:nvSpPr>
          <p:cNvPr id="52" name="Shape 50"/>
          <p:cNvSpPr/>
          <p:nvPr/>
        </p:nvSpPr>
        <p:spPr>
          <a:xfrm>
            <a:off x="3264408" y="3493008"/>
            <a:ext cx="64008" cy="1261872"/>
          </a:xfrm>
          <a:prstGeom prst="rect">
            <a:avLst/>
          </a:prstGeom>
          <a:solidFill>
            <a:srgbClr val="F59E0B"/>
          </a:solidFill>
          <a:ln w="12700">
            <a:solidFill>
              <a:srgbClr val="F59E0B"/>
            </a:solidFill>
            <a:prstDash val="solid"/>
          </a:ln>
        </p:spPr>
      </p:sp>
      <p:sp>
        <p:nvSpPr>
          <p:cNvPr id="53" name="Text 51"/>
          <p:cNvSpPr/>
          <p:nvPr/>
        </p:nvSpPr>
        <p:spPr>
          <a:xfrm>
            <a:off x="3447288" y="3547872"/>
            <a:ext cx="2514600" cy="347472"/>
          </a:xfrm>
          <a:prstGeom prst="rect">
            <a:avLst/>
          </a:prstGeom>
          <a:noFill/>
          <a:ln/>
        </p:spPr>
        <p:txBody>
          <a:bodyPr wrap="square" rtlCol="0" anchor="ctr"/>
          <a:lstStyle/>
          <a:p>
            <a:pPr marL="0" indent="0">
              <a:buNone/>
            </a:pPr>
            <a:r>
              <a:rPr lang="en-US" sz="1050" b="1" dirty="0">
                <a:solidFill>
                  <a:srgbClr val="101B35"/>
                </a:solidFill>
                <a:latin typeface="Georgia" pitchFamily="34" charset="0"/>
                <a:ea typeface="Georgia" pitchFamily="34" charset="-122"/>
                <a:cs typeface="Georgia" pitchFamily="34" charset="-120"/>
              </a:rPr>
              <a:t>💾  Prompt caching (97% of tokens)</a:t>
            </a:r>
            <a:endParaRPr lang="en-US" sz="1050" dirty="0"/>
          </a:p>
        </p:txBody>
      </p:sp>
      <p:sp>
        <p:nvSpPr>
          <p:cNvPr id="54" name="Text 52"/>
          <p:cNvSpPr/>
          <p:nvPr/>
        </p:nvSpPr>
        <p:spPr>
          <a:xfrm>
            <a:off x="3447288" y="3913632"/>
            <a:ext cx="2560320" cy="777240"/>
          </a:xfrm>
          <a:prstGeom prst="rect">
            <a:avLst/>
          </a:prstGeom>
          <a:noFill/>
          <a:ln/>
        </p:spPr>
        <p:txBody>
          <a:bodyPr wrap="square" rtlCol="0" anchor="ctr"/>
          <a:lstStyle/>
          <a:p>
            <a:pPr marL="0" indent="0">
              <a:buNone/>
            </a:pPr>
            <a:r>
              <a:rPr lang="en-US" sz="850" dirty="0">
                <a:solidFill>
                  <a:srgbClr val="475569"/>
                </a:solidFill>
                <a:latin typeface="Calibri" pitchFamily="34" charset="0"/>
                <a:ea typeface="Calibri" pitchFamily="34" charset="-122"/>
                <a:cs typeface="Calibri" pitchFamily="34" charset="-120"/>
              </a:rPr>
              <a:t>Static system prompt head marked cache_control: ephemeral. Dynamic schedule tail refreshes per call. Token savings tracked live in UI.</a:t>
            </a:r>
            <a:endParaRPr lang="en-US" sz="850" dirty="0"/>
          </a:p>
        </p:txBody>
      </p:sp>
      <p:sp>
        <p:nvSpPr>
          <p:cNvPr id="55" name="Shape 53"/>
          <p:cNvSpPr/>
          <p:nvPr/>
        </p:nvSpPr>
        <p:spPr>
          <a:xfrm>
            <a:off x="6208776" y="3493008"/>
            <a:ext cx="2816352" cy="1261872"/>
          </a:xfrm>
          <a:prstGeom prst="rect">
            <a:avLst/>
          </a:prstGeom>
          <a:solidFill>
            <a:srgbClr val="FFFFFF"/>
          </a:solidFill>
          <a:ln/>
          <a:effectLst>
            <a:outerShdw blurRad="101600" dist="25400" dir="8100000" algn="bl" rotWithShape="0">
              <a:srgbClr val="000000">
                <a:alpha val="12000"/>
              </a:srgbClr>
            </a:outerShdw>
          </a:effectLst>
        </p:spPr>
      </p:sp>
      <p:sp>
        <p:nvSpPr>
          <p:cNvPr id="56" name="Shape 54"/>
          <p:cNvSpPr/>
          <p:nvPr/>
        </p:nvSpPr>
        <p:spPr>
          <a:xfrm>
            <a:off x="6208776" y="3493008"/>
            <a:ext cx="64008" cy="1261872"/>
          </a:xfrm>
          <a:prstGeom prst="rect">
            <a:avLst/>
          </a:prstGeom>
          <a:solidFill>
            <a:srgbClr val="7C3AED"/>
          </a:solidFill>
          <a:ln w="12700">
            <a:solidFill>
              <a:srgbClr val="7C3AED"/>
            </a:solidFill>
            <a:prstDash val="solid"/>
          </a:ln>
        </p:spPr>
      </p:sp>
      <p:sp>
        <p:nvSpPr>
          <p:cNvPr id="57" name="Text 55"/>
          <p:cNvSpPr/>
          <p:nvPr/>
        </p:nvSpPr>
        <p:spPr>
          <a:xfrm>
            <a:off x="6391656" y="3547872"/>
            <a:ext cx="2514600" cy="347472"/>
          </a:xfrm>
          <a:prstGeom prst="rect">
            <a:avLst/>
          </a:prstGeom>
          <a:noFill/>
          <a:ln/>
        </p:spPr>
        <p:txBody>
          <a:bodyPr wrap="square" rtlCol="0" anchor="ctr"/>
          <a:lstStyle/>
          <a:p>
            <a:pPr marL="0" indent="0">
              <a:buNone/>
            </a:pPr>
            <a:r>
              <a:rPr lang="en-US" sz="1050" b="1" dirty="0">
                <a:solidFill>
                  <a:srgbClr val="101B35"/>
                </a:solidFill>
                <a:latin typeface="Georgia" pitchFamily="34" charset="0"/>
                <a:ea typeface="Georgia" pitchFamily="34" charset="-122"/>
                <a:cs typeface="Georgia" pitchFamily="34" charset="-120"/>
              </a:rPr>
              <a:t>🔢  Index-based task completion</a:t>
            </a:r>
            <a:endParaRPr lang="en-US" sz="1050" dirty="0"/>
          </a:p>
        </p:txBody>
      </p:sp>
      <p:sp>
        <p:nvSpPr>
          <p:cNvPr id="58" name="Text 56"/>
          <p:cNvSpPr/>
          <p:nvPr/>
        </p:nvSpPr>
        <p:spPr>
          <a:xfrm>
            <a:off x="6391656" y="3913632"/>
            <a:ext cx="2560320" cy="777240"/>
          </a:xfrm>
          <a:prstGeom prst="rect">
            <a:avLst/>
          </a:prstGeom>
          <a:noFill/>
          <a:ln/>
        </p:spPr>
        <p:txBody>
          <a:bodyPr wrap="square" rtlCol="0" anchor="ctr"/>
          <a:lstStyle/>
          <a:p>
            <a:pPr marL="0" indent="0">
              <a:buNone/>
            </a:pPr>
            <a:r>
              <a:rPr lang="en-US" sz="850" dirty="0">
                <a:solidFill>
                  <a:srgbClr val="475569"/>
                </a:solidFill>
                <a:latin typeface="Calibri" pitchFamily="34" charset="0"/>
                <a:ea typeface="Calibri" pitchFamily="34" charset="-122"/>
                <a:cs typeface="Calibri" pitchFamily="34" charset="-120"/>
              </a:rPr>
              <a:t>Stores (pet_name, task_index) not task_name — handles duplicate task names across pets without silently corrupting state.</a:t>
            </a:r>
            <a:endParaRPr lang="en-US" sz="850" dirty="0"/>
          </a:p>
        </p:txBody>
      </p:sp>
      <p:sp>
        <p:nvSpPr>
          <p:cNvPr id="59" name="Shape 57"/>
          <p:cNvSpPr/>
          <p:nvPr/>
        </p:nvSpPr>
        <p:spPr>
          <a:xfrm>
            <a:off x="0" y="5020056"/>
            <a:ext cx="9144000" cy="123444"/>
          </a:xfrm>
          <a:prstGeom prst="rect">
            <a:avLst/>
          </a:prstGeom>
          <a:solidFill>
            <a:srgbClr val="101B35"/>
          </a:solidFill>
          <a:ln w="12700">
            <a:solidFill>
              <a:srgbClr val="101B35"/>
            </a:solidFill>
            <a:prstDash val="solid"/>
          </a:ln>
        </p:spPr>
      </p:sp>
      <p:sp>
        <p:nvSpPr>
          <p:cNvPr id="60" name="TextBox 59">
            <a:extLst>
              <a:ext uri="{FF2B5EF4-FFF2-40B4-BE49-F238E27FC236}">
                <a16:creationId xmlns:a16="http://schemas.microsoft.com/office/drawing/2014/main" id="{996BCB3A-0DB2-544D-DC94-5A8C4D3E7E13}"/>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B3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2EC4B6"/>
          </a:solidFill>
          <a:ln w="12700">
            <a:solidFill>
              <a:srgbClr val="2EC4B6"/>
            </a:solidFill>
            <a:prstDash val="solid"/>
          </a:ln>
        </p:spPr>
      </p:sp>
      <p:sp>
        <p:nvSpPr>
          <p:cNvPr id="3" name="Shape 1"/>
          <p:cNvSpPr/>
          <p:nvPr/>
        </p:nvSpPr>
        <p:spPr>
          <a:xfrm>
            <a:off x="457200" y="182880"/>
            <a:ext cx="1874520" cy="246888"/>
          </a:xfrm>
          <a:prstGeom prst="roundRect">
            <a:avLst>
              <a:gd name="adj" fmla="val 14815"/>
            </a:avLst>
          </a:prstGeom>
          <a:solidFill>
            <a:srgbClr val="2EC4B6"/>
          </a:solidFill>
          <a:ln w="12700">
            <a:solidFill>
              <a:srgbClr val="2EC4B6"/>
            </a:solidFill>
            <a:prstDash val="solid"/>
          </a:ln>
        </p:spPr>
      </p:sp>
      <p:sp>
        <p:nvSpPr>
          <p:cNvPr id="4" name="Text 2"/>
          <p:cNvSpPr/>
          <p:nvPr/>
        </p:nvSpPr>
        <p:spPr>
          <a:xfrm>
            <a:off x="457200" y="182880"/>
            <a:ext cx="1874520" cy="246888"/>
          </a:xfrm>
          <a:prstGeom prst="rect">
            <a:avLst/>
          </a:prstGeom>
          <a:noFill/>
          <a:ln/>
        </p:spPr>
        <p:txBody>
          <a:bodyPr wrap="square" rtlCol="0" anchor="ctr"/>
          <a:lstStyle/>
          <a:p>
            <a:pPr marL="0" indent="0" algn="ctr">
              <a:buNone/>
            </a:pPr>
            <a:r>
              <a:rPr lang="en-US" sz="800" b="1" kern="0" spc="200" dirty="0">
                <a:solidFill>
                  <a:srgbClr val="101B35"/>
                </a:solidFill>
                <a:latin typeface="Calibri" pitchFamily="34" charset="0"/>
                <a:ea typeface="Calibri" pitchFamily="34" charset="-122"/>
                <a:cs typeface="Calibri" pitchFamily="34" charset="-120"/>
              </a:rPr>
              <a:t>RELIABILITY</a:t>
            </a:r>
            <a:endParaRPr lang="en-US" sz="800" dirty="0"/>
          </a:p>
        </p:txBody>
      </p:sp>
      <p:sp>
        <p:nvSpPr>
          <p:cNvPr id="5" name="Text 3"/>
          <p:cNvSpPr/>
          <p:nvPr/>
        </p:nvSpPr>
        <p:spPr>
          <a:xfrm>
            <a:off x="457200" y="548640"/>
            <a:ext cx="8595360" cy="68580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219 Tests · 0 Failures · 2.31 Seconds</a:t>
            </a:r>
            <a:endParaRPr lang="en-US" sz="3000" dirty="0"/>
          </a:p>
        </p:txBody>
      </p:sp>
      <p:sp>
        <p:nvSpPr>
          <p:cNvPr id="6" name="Shape 4"/>
          <p:cNvSpPr/>
          <p:nvPr/>
        </p:nvSpPr>
        <p:spPr>
          <a:xfrm>
            <a:off x="320040" y="1353312"/>
            <a:ext cx="1965960" cy="1207008"/>
          </a:xfrm>
          <a:prstGeom prst="rect">
            <a:avLst/>
          </a:prstGeom>
          <a:solidFill>
            <a:srgbClr val="1A2E55"/>
          </a:solidFill>
          <a:ln/>
        </p:spPr>
      </p:sp>
      <p:sp>
        <p:nvSpPr>
          <p:cNvPr id="7" name="Shape 5"/>
          <p:cNvSpPr/>
          <p:nvPr/>
        </p:nvSpPr>
        <p:spPr>
          <a:xfrm>
            <a:off x="320040" y="1353312"/>
            <a:ext cx="1965960" cy="64008"/>
          </a:xfrm>
          <a:prstGeom prst="rect">
            <a:avLst/>
          </a:prstGeom>
          <a:solidFill>
            <a:srgbClr val="2EC4B6"/>
          </a:solidFill>
          <a:ln w="12700">
            <a:solidFill>
              <a:srgbClr val="2EC4B6"/>
            </a:solidFill>
            <a:prstDash val="solid"/>
          </a:ln>
        </p:spPr>
      </p:sp>
      <p:sp>
        <p:nvSpPr>
          <p:cNvPr id="8" name="Text 6"/>
          <p:cNvSpPr/>
          <p:nvPr/>
        </p:nvSpPr>
        <p:spPr>
          <a:xfrm>
            <a:off x="457200" y="1481328"/>
            <a:ext cx="1719072" cy="566928"/>
          </a:xfrm>
          <a:prstGeom prst="rect">
            <a:avLst/>
          </a:prstGeom>
          <a:noFill/>
          <a:ln/>
        </p:spPr>
        <p:txBody>
          <a:bodyPr wrap="square" rtlCol="0" anchor="ctr"/>
          <a:lstStyle/>
          <a:p>
            <a:pPr marL="0" indent="0">
              <a:buNone/>
            </a:pPr>
            <a:r>
              <a:rPr lang="en-US" sz="2800" b="1" dirty="0">
                <a:solidFill>
                  <a:srgbClr val="2EC4B6"/>
                </a:solidFill>
                <a:latin typeface="Georgia" pitchFamily="34" charset="0"/>
                <a:ea typeface="Georgia" pitchFamily="34" charset="-122"/>
                <a:cs typeface="Georgia" pitchFamily="34" charset="-120"/>
              </a:rPr>
              <a:t>219</a:t>
            </a:r>
            <a:endParaRPr lang="en-US" sz="2800" dirty="0"/>
          </a:p>
        </p:txBody>
      </p:sp>
      <p:sp>
        <p:nvSpPr>
          <p:cNvPr id="9" name="Text 7"/>
          <p:cNvSpPr/>
          <p:nvPr/>
        </p:nvSpPr>
        <p:spPr>
          <a:xfrm>
            <a:off x="457200" y="2029968"/>
            <a:ext cx="1719072" cy="45720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Tests Passing</a:t>
            </a: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(0 failures)</a:t>
            </a:r>
            <a:endParaRPr lang="en-US" sz="900" dirty="0"/>
          </a:p>
        </p:txBody>
      </p:sp>
      <p:sp>
        <p:nvSpPr>
          <p:cNvPr id="10" name="Shape 8"/>
          <p:cNvSpPr/>
          <p:nvPr/>
        </p:nvSpPr>
        <p:spPr>
          <a:xfrm>
            <a:off x="2468880" y="1353312"/>
            <a:ext cx="1965960" cy="1207008"/>
          </a:xfrm>
          <a:prstGeom prst="rect">
            <a:avLst/>
          </a:prstGeom>
          <a:solidFill>
            <a:srgbClr val="1A2E55"/>
          </a:solidFill>
          <a:ln/>
        </p:spPr>
      </p:sp>
      <p:sp>
        <p:nvSpPr>
          <p:cNvPr id="11" name="Shape 9"/>
          <p:cNvSpPr/>
          <p:nvPr/>
        </p:nvSpPr>
        <p:spPr>
          <a:xfrm>
            <a:off x="2468880" y="1353312"/>
            <a:ext cx="1965960" cy="64008"/>
          </a:xfrm>
          <a:prstGeom prst="rect">
            <a:avLst/>
          </a:prstGeom>
          <a:solidFill>
            <a:srgbClr val="FF6B35"/>
          </a:solidFill>
          <a:ln w="12700">
            <a:solidFill>
              <a:srgbClr val="FF6B35"/>
            </a:solidFill>
            <a:prstDash val="solid"/>
          </a:ln>
        </p:spPr>
      </p:sp>
      <p:sp>
        <p:nvSpPr>
          <p:cNvPr id="12" name="Text 10"/>
          <p:cNvSpPr/>
          <p:nvPr/>
        </p:nvSpPr>
        <p:spPr>
          <a:xfrm>
            <a:off x="2606040" y="1481328"/>
            <a:ext cx="1719072" cy="566928"/>
          </a:xfrm>
          <a:prstGeom prst="rect">
            <a:avLst/>
          </a:prstGeom>
          <a:noFill/>
          <a:ln/>
        </p:spPr>
        <p:txBody>
          <a:bodyPr wrap="square" rtlCol="0" anchor="ctr"/>
          <a:lstStyle/>
          <a:p>
            <a:pPr marL="0" indent="0">
              <a:buNone/>
            </a:pPr>
            <a:r>
              <a:rPr lang="en-US" sz="2800" b="1" dirty="0">
                <a:solidFill>
                  <a:srgbClr val="FF6B35"/>
                </a:solidFill>
                <a:latin typeface="Georgia" pitchFamily="34" charset="0"/>
                <a:ea typeface="Georgia" pitchFamily="34" charset="-122"/>
                <a:cs typeface="Georgia" pitchFamily="34" charset="-120"/>
              </a:rPr>
              <a:t>2.31s</a:t>
            </a:r>
            <a:endParaRPr lang="en-US" sz="2800" dirty="0"/>
          </a:p>
        </p:txBody>
      </p:sp>
      <p:sp>
        <p:nvSpPr>
          <p:cNvPr id="13" name="Text 11"/>
          <p:cNvSpPr/>
          <p:nvPr/>
        </p:nvSpPr>
        <p:spPr>
          <a:xfrm>
            <a:off x="2606040" y="2029968"/>
            <a:ext cx="1719072" cy="45720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Full suite</a:t>
            </a: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execution time</a:t>
            </a:r>
            <a:endParaRPr lang="en-US" sz="900" dirty="0"/>
          </a:p>
        </p:txBody>
      </p:sp>
      <p:sp>
        <p:nvSpPr>
          <p:cNvPr id="14" name="Shape 12"/>
          <p:cNvSpPr/>
          <p:nvPr/>
        </p:nvSpPr>
        <p:spPr>
          <a:xfrm>
            <a:off x="4617720" y="1353312"/>
            <a:ext cx="1965960" cy="1207008"/>
          </a:xfrm>
          <a:prstGeom prst="rect">
            <a:avLst/>
          </a:prstGeom>
          <a:solidFill>
            <a:srgbClr val="1A2E55"/>
          </a:solidFill>
          <a:ln/>
        </p:spPr>
      </p:sp>
      <p:sp>
        <p:nvSpPr>
          <p:cNvPr id="15" name="Shape 13"/>
          <p:cNvSpPr/>
          <p:nvPr/>
        </p:nvSpPr>
        <p:spPr>
          <a:xfrm>
            <a:off x="4617720" y="1353312"/>
            <a:ext cx="1965960" cy="64008"/>
          </a:xfrm>
          <a:prstGeom prst="rect">
            <a:avLst/>
          </a:prstGeom>
          <a:solidFill>
            <a:srgbClr val="F59E0B"/>
          </a:solidFill>
          <a:ln w="12700">
            <a:solidFill>
              <a:srgbClr val="F59E0B"/>
            </a:solidFill>
            <a:prstDash val="solid"/>
          </a:ln>
        </p:spPr>
      </p:sp>
      <p:sp>
        <p:nvSpPr>
          <p:cNvPr id="16" name="Text 14"/>
          <p:cNvSpPr/>
          <p:nvPr/>
        </p:nvSpPr>
        <p:spPr>
          <a:xfrm>
            <a:off x="4754880" y="1481328"/>
            <a:ext cx="1719072" cy="566928"/>
          </a:xfrm>
          <a:prstGeom prst="rect">
            <a:avLst/>
          </a:prstGeom>
          <a:noFill/>
          <a:ln/>
        </p:spPr>
        <p:txBody>
          <a:bodyPr wrap="square" rtlCol="0" anchor="ctr"/>
          <a:lstStyle/>
          <a:p>
            <a:pPr marL="0" indent="0">
              <a:buNone/>
            </a:pPr>
            <a:r>
              <a:rPr lang="en-US" sz="2800" b="1" dirty="0">
                <a:solidFill>
                  <a:srgbClr val="F59E0B"/>
                </a:solidFill>
                <a:latin typeface="Georgia" pitchFamily="34" charset="0"/>
                <a:ea typeface="Georgia" pitchFamily="34" charset="-122"/>
                <a:cs typeface="Georgia" pitchFamily="34" charset="-120"/>
              </a:rPr>
              <a:t>0</a:t>
            </a:r>
            <a:endParaRPr lang="en-US" sz="2800" dirty="0"/>
          </a:p>
        </p:txBody>
      </p:sp>
      <p:sp>
        <p:nvSpPr>
          <p:cNvPr id="17" name="Text 15"/>
          <p:cNvSpPr/>
          <p:nvPr/>
        </p:nvSpPr>
        <p:spPr>
          <a:xfrm>
            <a:off x="4754880" y="2029968"/>
            <a:ext cx="1719072" cy="45720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Live API calls</a:t>
            </a: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in test suite</a:t>
            </a:r>
            <a:endParaRPr lang="en-US" sz="900" dirty="0"/>
          </a:p>
        </p:txBody>
      </p:sp>
      <p:sp>
        <p:nvSpPr>
          <p:cNvPr id="18" name="Shape 16"/>
          <p:cNvSpPr/>
          <p:nvPr/>
        </p:nvSpPr>
        <p:spPr>
          <a:xfrm>
            <a:off x="6766560" y="1353312"/>
            <a:ext cx="1965960" cy="1207008"/>
          </a:xfrm>
          <a:prstGeom prst="rect">
            <a:avLst/>
          </a:prstGeom>
          <a:solidFill>
            <a:srgbClr val="1A2E55"/>
          </a:solidFill>
          <a:ln/>
        </p:spPr>
      </p:sp>
      <p:sp>
        <p:nvSpPr>
          <p:cNvPr id="19" name="Shape 17"/>
          <p:cNvSpPr/>
          <p:nvPr/>
        </p:nvSpPr>
        <p:spPr>
          <a:xfrm>
            <a:off x="6766560" y="1353312"/>
            <a:ext cx="1965960" cy="64008"/>
          </a:xfrm>
          <a:prstGeom prst="rect">
            <a:avLst/>
          </a:prstGeom>
          <a:solidFill>
            <a:srgbClr val="7C3AED"/>
          </a:solidFill>
          <a:ln w="12700">
            <a:solidFill>
              <a:srgbClr val="7C3AED"/>
            </a:solidFill>
            <a:prstDash val="solid"/>
          </a:ln>
        </p:spPr>
      </p:sp>
      <p:sp>
        <p:nvSpPr>
          <p:cNvPr id="20" name="Text 18"/>
          <p:cNvSpPr/>
          <p:nvPr/>
        </p:nvSpPr>
        <p:spPr>
          <a:xfrm>
            <a:off x="6903720" y="1481328"/>
            <a:ext cx="1719072" cy="566928"/>
          </a:xfrm>
          <a:prstGeom prst="rect">
            <a:avLst/>
          </a:prstGeom>
          <a:noFill/>
          <a:ln/>
        </p:spPr>
        <p:txBody>
          <a:bodyPr wrap="square" rtlCol="0" anchor="ctr"/>
          <a:lstStyle/>
          <a:p>
            <a:pPr marL="0" indent="0">
              <a:buNone/>
            </a:pPr>
            <a:r>
              <a:rPr lang="en-US" sz="2800" b="1" dirty="0">
                <a:solidFill>
                  <a:srgbClr val="7C3AED"/>
                </a:solidFill>
                <a:latin typeface="Georgia" pitchFamily="34" charset="0"/>
                <a:ea typeface="Georgia" pitchFamily="34" charset="-122"/>
                <a:cs typeface="Georgia" pitchFamily="34" charset="-120"/>
              </a:rPr>
              <a:t>40+</a:t>
            </a:r>
            <a:endParaRPr lang="en-US" sz="2800" dirty="0"/>
          </a:p>
        </p:txBody>
      </p:sp>
      <p:sp>
        <p:nvSpPr>
          <p:cNvPr id="21" name="Text 19"/>
          <p:cNvSpPr/>
          <p:nvPr/>
        </p:nvSpPr>
        <p:spPr>
          <a:xfrm>
            <a:off x="6903720" y="2029968"/>
            <a:ext cx="1719072" cy="45720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Guardrail</a:t>
            </a: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violations caught</a:t>
            </a:r>
            <a:endParaRPr lang="en-US" sz="900" dirty="0"/>
          </a:p>
        </p:txBody>
      </p:sp>
      <p:sp>
        <p:nvSpPr>
          <p:cNvPr id="22" name="Shape 20"/>
          <p:cNvSpPr/>
          <p:nvPr/>
        </p:nvSpPr>
        <p:spPr>
          <a:xfrm>
            <a:off x="320040" y="2724912"/>
            <a:ext cx="8503920" cy="585216"/>
          </a:xfrm>
          <a:prstGeom prst="rect">
            <a:avLst/>
          </a:prstGeom>
          <a:solidFill>
            <a:srgbClr val="1A2E55"/>
          </a:solidFill>
          <a:ln/>
        </p:spPr>
      </p:sp>
      <p:sp>
        <p:nvSpPr>
          <p:cNvPr id="23" name="Shape 21"/>
          <p:cNvSpPr/>
          <p:nvPr/>
        </p:nvSpPr>
        <p:spPr>
          <a:xfrm>
            <a:off x="320040" y="2724912"/>
            <a:ext cx="64008" cy="585216"/>
          </a:xfrm>
          <a:prstGeom prst="rect">
            <a:avLst/>
          </a:prstGeom>
          <a:solidFill>
            <a:srgbClr val="FF6B35"/>
          </a:solidFill>
          <a:ln w="12700">
            <a:solidFill>
              <a:srgbClr val="FF6B35"/>
            </a:solidFill>
            <a:prstDash val="solid"/>
          </a:ln>
        </p:spPr>
      </p:sp>
      <p:sp>
        <p:nvSpPr>
          <p:cNvPr id="24" name="Text 22"/>
          <p:cNvSpPr/>
          <p:nvPr/>
        </p:nvSpPr>
        <p:spPr>
          <a:xfrm>
            <a:off x="502920" y="2779776"/>
            <a:ext cx="1828800" cy="347472"/>
          </a:xfrm>
          <a:prstGeom prst="rect">
            <a:avLst/>
          </a:prstGeom>
          <a:noFill/>
          <a:ln/>
        </p:spPr>
        <p:txBody>
          <a:bodyPr wrap="square"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test_agent.py</a:t>
            </a:r>
            <a:endParaRPr lang="en-US" sz="1000" dirty="0"/>
          </a:p>
        </p:txBody>
      </p:sp>
      <p:sp>
        <p:nvSpPr>
          <p:cNvPr id="25" name="Shape 23"/>
          <p:cNvSpPr/>
          <p:nvPr/>
        </p:nvSpPr>
        <p:spPr>
          <a:xfrm>
            <a:off x="2423160" y="2834640"/>
            <a:ext cx="347472" cy="347472"/>
          </a:xfrm>
          <a:prstGeom prst="ellipse">
            <a:avLst/>
          </a:prstGeom>
          <a:solidFill>
            <a:srgbClr val="FF6B35"/>
          </a:solidFill>
          <a:ln/>
        </p:spPr>
      </p:sp>
      <p:sp>
        <p:nvSpPr>
          <p:cNvPr id="26" name="Text 24"/>
          <p:cNvSpPr/>
          <p:nvPr/>
        </p:nvSpPr>
        <p:spPr>
          <a:xfrm>
            <a:off x="2400300" y="2821577"/>
            <a:ext cx="393191" cy="347472"/>
          </a:xfrm>
          <a:prstGeom prst="rect">
            <a:avLst/>
          </a:prstGeom>
          <a:noFill/>
          <a:ln/>
        </p:spPr>
        <p:txBody>
          <a:bodyPr wrap="square" rtlCol="0" anchor="ctr"/>
          <a:lstStyle/>
          <a:p>
            <a:pPr marL="0" indent="0" algn="ctr">
              <a:buNone/>
            </a:pPr>
            <a:r>
              <a:rPr lang="en-US" sz="1000" b="1" dirty="0">
                <a:solidFill>
                  <a:srgbClr val="101B35"/>
                </a:solidFill>
                <a:latin typeface="Calibri" pitchFamily="34" charset="0"/>
                <a:ea typeface="Calibri" pitchFamily="34" charset="-122"/>
                <a:cs typeface="Calibri" pitchFamily="34" charset="-120"/>
              </a:rPr>
              <a:t>111</a:t>
            </a:r>
            <a:endParaRPr lang="en-US" sz="1000" dirty="0"/>
          </a:p>
        </p:txBody>
      </p:sp>
      <p:sp>
        <p:nvSpPr>
          <p:cNvPr id="27" name="Text 25"/>
          <p:cNvSpPr/>
          <p:nvPr/>
        </p:nvSpPr>
        <p:spPr>
          <a:xfrm>
            <a:off x="2871216" y="2779776"/>
            <a:ext cx="1188720" cy="347472"/>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9 classes</a:t>
            </a:r>
            <a:endParaRPr lang="en-US" sz="900" dirty="0"/>
          </a:p>
        </p:txBody>
      </p:sp>
      <p:sp>
        <p:nvSpPr>
          <p:cNvPr id="28" name="Shape 26"/>
          <p:cNvSpPr/>
          <p:nvPr/>
        </p:nvSpPr>
        <p:spPr>
          <a:xfrm>
            <a:off x="4114800" y="2816352"/>
            <a:ext cx="0" cy="402336"/>
          </a:xfrm>
          <a:prstGeom prst="line">
            <a:avLst/>
          </a:prstGeom>
          <a:noFill/>
          <a:ln w="12700">
            <a:solidFill>
              <a:srgbClr val="2A4070"/>
            </a:solidFill>
            <a:prstDash val="solid"/>
          </a:ln>
        </p:spPr>
      </p:sp>
      <p:sp>
        <p:nvSpPr>
          <p:cNvPr id="29" name="Text 27"/>
          <p:cNvSpPr/>
          <p:nvPr/>
        </p:nvSpPr>
        <p:spPr>
          <a:xfrm>
            <a:off x="4251960" y="2798064"/>
            <a:ext cx="4462272" cy="402336"/>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Tools 1–9 · dispatch routing · guardrail algorithm · orchestrator helpers · NL parsing · ReAct loop</a:t>
            </a:r>
            <a:endParaRPr lang="en-US" sz="850" dirty="0"/>
          </a:p>
        </p:txBody>
      </p:sp>
      <p:sp>
        <p:nvSpPr>
          <p:cNvPr id="30" name="Shape 28"/>
          <p:cNvSpPr/>
          <p:nvPr/>
        </p:nvSpPr>
        <p:spPr>
          <a:xfrm>
            <a:off x="320040" y="3401568"/>
            <a:ext cx="8503920" cy="585216"/>
          </a:xfrm>
          <a:prstGeom prst="rect">
            <a:avLst/>
          </a:prstGeom>
          <a:solidFill>
            <a:srgbClr val="1A2E55"/>
          </a:solidFill>
          <a:ln/>
        </p:spPr>
      </p:sp>
      <p:sp>
        <p:nvSpPr>
          <p:cNvPr id="31" name="Shape 29"/>
          <p:cNvSpPr/>
          <p:nvPr/>
        </p:nvSpPr>
        <p:spPr>
          <a:xfrm>
            <a:off x="320040" y="3401568"/>
            <a:ext cx="64008" cy="585216"/>
          </a:xfrm>
          <a:prstGeom prst="rect">
            <a:avLst/>
          </a:prstGeom>
          <a:solidFill>
            <a:srgbClr val="2EC4B6"/>
          </a:solidFill>
          <a:ln w="12700">
            <a:solidFill>
              <a:srgbClr val="2EC4B6"/>
            </a:solidFill>
            <a:prstDash val="solid"/>
          </a:ln>
        </p:spPr>
      </p:sp>
      <p:sp>
        <p:nvSpPr>
          <p:cNvPr id="32" name="Text 30"/>
          <p:cNvSpPr/>
          <p:nvPr/>
        </p:nvSpPr>
        <p:spPr>
          <a:xfrm>
            <a:off x="502920" y="3456432"/>
            <a:ext cx="1828800" cy="347472"/>
          </a:xfrm>
          <a:prstGeom prst="rect">
            <a:avLst/>
          </a:prstGeom>
          <a:noFill/>
          <a:ln/>
        </p:spPr>
        <p:txBody>
          <a:bodyPr wrap="square"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test_e2e.py</a:t>
            </a:r>
            <a:endParaRPr lang="en-US" sz="1000" dirty="0"/>
          </a:p>
        </p:txBody>
      </p:sp>
      <p:sp>
        <p:nvSpPr>
          <p:cNvPr id="33" name="Shape 31"/>
          <p:cNvSpPr/>
          <p:nvPr/>
        </p:nvSpPr>
        <p:spPr>
          <a:xfrm>
            <a:off x="2423160" y="3511296"/>
            <a:ext cx="347472" cy="347472"/>
          </a:xfrm>
          <a:prstGeom prst="ellipse">
            <a:avLst/>
          </a:prstGeom>
          <a:solidFill>
            <a:srgbClr val="2EC4B6"/>
          </a:solidFill>
          <a:ln/>
        </p:spPr>
      </p:sp>
      <p:sp>
        <p:nvSpPr>
          <p:cNvPr id="34" name="Text 32"/>
          <p:cNvSpPr/>
          <p:nvPr/>
        </p:nvSpPr>
        <p:spPr>
          <a:xfrm>
            <a:off x="2423160" y="3511296"/>
            <a:ext cx="347472" cy="347472"/>
          </a:xfrm>
          <a:prstGeom prst="rect">
            <a:avLst/>
          </a:prstGeom>
          <a:noFill/>
          <a:ln/>
        </p:spPr>
        <p:txBody>
          <a:bodyPr wrap="square" rtlCol="0" anchor="ctr"/>
          <a:lstStyle/>
          <a:p>
            <a:pPr marL="0" indent="0" algn="ctr">
              <a:buNone/>
            </a:pPr>
            <a:r>
              <a:rPr lang="en-US" sz="1000" b="1" dirty="0">
                <a:solidFill>
                  <a:srgbClr val="101B35"/>
                </a:solidFill>
                <a:latin typeface="Calibri" pitchFamily="34" charset="0"/>
                <a:ea typeface="Calibri" pitchFamily="34" charset="-122"/>
                <a:cs typeface="Calibri" pitchFamily="34" charset="-120"/>
              </a:rPr>
              <a:t>85</a:t>
            </a:r>
            <a:endParaRPr lang="en-US" sz="1000" dirty="0"/>
          </a:p>
        </p:txBody>
      </p:sp>
      <p:sp>
        <p:nvSpPr>
          <p:cNvPr id="35" name="Text 33"/>
          <p:cNvSpPr/>
          <p:nvPr/>
        </p:nvSpPr>
        <p:spPr>
          <a:xfrm>
            <a:off x="2871216" y="3456432"/>
            <a:ext cx="1188720" cy="347472"/>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13 classes</a:t>
            </a:r>
            <a:endParaRPr lang="en-US" sz="900" dirty="0"/>
          </a:p>
        </p:txBody>
      </p:sp>
      <p:sp>
        <p:nvSpPr>
          <p:cNvPr id="36" name="Shape 34"/>
          <p:cNvSpPr/>
          <p:nvPr/>
        </p:nvSpPr>
        <p:spPr>
          <a:xfrm>
            <a:off x="4114800" y="3493008"/>
            <a:ext cx="0" cy="402336"/>
          </a:xfrm>
          <a:prstGeom prst="line">
            <a:avLst/>
          </a:prstGeom>
          <a:noFill/>
          <a:ln w="12700">
            <a:solidFill>
              <a:srgbClr val="2A4070"/>
            </a:solidFill>
            <a:prstDash val="solid"/>
          </a:ln>
        </p:spPr>
      </p:sp>
      <p:sp>
        <p:nvSpPr>
          <p:cNvPr id="37" name="Text 35"/>
          <p:cNvSpPr/>
          <p:nvPr/>
        </p:nvSpPr>
        <p:spPr>
          <a:xfrm>
            <a:off x="4251960" y="3474720"/>
            <a:ext cx="4462272" cy="402336"/>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UI helpers · full workflows · persistence round-trips · token metrics · chat flow · regression cases</a:t>
            </a:r>
            <a:endParaRPr lang="en-US" sz="850" dirty="0"/>
          </a:p>
        </p:txBody>
      </p:sp>
      <p:sp>
        <p:nvSpPr>
          <p:cNvPr id="38" name="Shape 36"/>
          <p:cNvSpPr/>
          <p:nvPr/>
        </p:nvSpPr>
        <p:spPr>
          <a:xfrm>
            <a:off x="320040" y="4078224"/>
            <a:ext cx="8503920" cy="585216"/>
          </a:xfrm>
          <a:prstGeom prst="rect">
            <a:avLst/>
          </a:prstGeom>
          <a:solidFill>
            <a:srgbClr val="1A2E55"/>
          </a:solidFill>
          <a:ln/>
        </p:spPr>
      </p:sp>
      <p:sp>
        <p:nvSpPr>
          <p:cNvPr id="39" name="Shape 37"/>
          <p:cNvSpPr/>
          <p:nvPr/>
        </p:nvSpPr>
        <p:spPr>
          <a:xfrm>
            <a:off x="320040" y="4078224"/>
            <a:ext cx="64008" cy="585216"/>
          </a:xfrm>
          <a:prstGeom prst="rect">
            <a:avLst/>
          </a:prstGeom>
          <a:solidFill>
            <a:srgbClr val="F59E0B"/>
          </a:solidFill>
          <a:ln w="12700">
            <a:solidFill>
              <a:srgbClr val="F59E0B"/>
            </a:solidFill>
            <a:prstDash val="solid"/>
          </a:ln>
        </p:spPr>
      </p:sp>
      <p:sp>
        <p:nvSpPr>
          <p:cNvPr id="40" name="Text 38"/>
          <p:cNvSpPr/>
          <p:nvPr/>
        </p:nvSpPr>
        <p:spPr>
          <a:xfrm>
            <a:off x="502920" y="4133088"/>
            <a:ext cx="1828800" cy="347472"/>
          </a:xfrm>
          <a:prstGeom prst="rect">
            <a:avLst/>
          </a:prstGeom>
          <a:noFill/>
          <a:ln/>
        </p:spPr>
        <p:txBody>
          <a:bodyPr wrap="square" rtlCol="0" anchor="ctr"/>
          <a:lstStyle/>
          <a:p>
            <a:pPr marL="0" indent="0">
              <a:buNone/>
            </a:pPr>
            <a:r>
              <a:rPr lang="en-US" sz="1000" b="1" dirty="0">
                <a:solidFill>
                  <a:srgbClr val="FFFFFF"/>
                </a:solidFill>
                <a:latin typeface="Consolas" pitchFamily="34" charset="0"/>
                <a:ea typeface="Consolas" pitchFamily="34" charset="-122"/>
                <a:cs typeface="Consolas" pitchFamily="34" charset="-120"/>
              </a:rPr>
              <a:t>test_pawpal.py</a:t>
            </a:r>
            <a:endParaRPr lang="en-US" sz="1000" dirty="0"/>
          </a:p>
        </p:txBody>
      </p:sp>
      <p:sp>
        <p:nvSpPr>
          <p:cNvPr id="41" name="Shape 39"/>
          <p:cNvSpPr/>
          <p:nvPr/>
        </p:nvSpPr>
        <p:spPr>
          <a:xfrm>
            <a:off x="2423160" y="4187952"/>
            <a:ext cx="347472" cy="347472"/>
          </a:xfrm>
          <a:prstGeom prst="ellipse">
            <a:avLst/>
          </a:prstGeom>
          <a:solidFill>
            <a:srgbClr val="F59E0B"/>
          </a:solidFill>
          <a:ln/>
        </p:spPr>
      </p:sp>
      <p:sp>
        <p:nvSpPr>
          <p:cNvPr id="42" name="Text 40"/>
          <p:cNvSpPr/>
          <p:nvPr/>
        </p:nvSpPr>
        <p:spPr>
          <a:xfrm>
            <a:off x="2423160" y="4187952"/>
            <a:ext cx="347472" cy="347472"/>
          </a:xfrm>
          <a:prstGeom prst="rect">
            <a:avLst/>
          </a:prstGeom>
          <a:noFill/>
          <a:ln/>
        </p:spPr>
        <p:txBody>
          <a:bodyPr wrap="square" rtlCol="0" anchor="ctr"/>
          <a:lstStyle/>
          <a:p>
            <a:pPr marL="0" indent="0" algn="ctr">
              <a:buNone/>
            </a:pPr>
            <a:r>
              <a:rPr lang="en-US" sz="1000" b="1" dirty="0">
                <a:solidFill>
                  <a:srgbClr val="101B35"/>
                </a:solidFill>
                <a:latin typeface="Calibri" pitchFamily="34" charset="0"/>
                <a:ea typeface="Calibri" pitchFamily="34" charset="-122"/>
                <a:cs typeface="Calibri" pitchFamily="34" charset="-120"/>
              </a:rPr>
              <a:t>23</a:t>
            </a:r>
            <a:endParaRPr lang="en-US" sz="1000" dirty="0"/>
          </a:p>
        </p:txBody>
      </p:sp>
      <p:sp>
        <p:nvSpPr>
          <p:cNvPr id="43" name="Text 41"/>
          <p:cNvSpPr/>
          <p:nvPr/>
        </p:nvSpPr>
        <p:spPr>
          <a:xfrm>
            <a:off x="2871216" y="4133088"/>
            <a:ext cx="1188720" cy="347472"/>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1 class</a:t>
            </a:r>
            <a:endParaRPr lang="en-US" sz="900" dirty="0"/>
          </a:p>
        </p:txBody>
      </p:sp>
      <p:sp>
        <p:nvSpPr>
          <p:cNvPr id="44" name="Shape 42"/>
          <p:cNvSpPr/>
          <p:nvPr/>
        </p:nvSpPr>
        <p:spPr>
          <a:xfrm>
            <a:off x="4114800" y="4169664"/>
            <a:ext cx="0" cy="402336"/>
          </a:xfrm>
          <a:prstGeom prst="line">
            <a:avLst/>
          </a:prstGeom>
          <a:noFill/>
          <a:ln w="12700">
            <a:solidFill>
              <a:srgbClr val="2A4070"/>
            </a:solidFill>
            <a:prstDash val="solid"/>
          </a:ln>
        </p:spPr>
      </p:sp>
      <p:sp>
        <p:nvSpPr>
          <p:cNvPr id="45" name="Text 43"/>
          <p:cNvSpPr/>
          <p:nvPr/>
        </p:nvSpPr>
        <p:spPr>
          <a:xfrm>
            <a:off x="4251960" y="4151376"/>
            <a:ext cx="4462272" cy="402336"/>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Core scheduler: sorting · conflict detection · recurrence · budget phases (original starter tests, carried forward)</a:t>
            </a:r>
            <a:endParaRPr lang="en-US" sz="850" dirty="0"/>
          </a:p>
        </p:txBody>
      </p:sp>
      <p:sp>
        <p:nvSpPr>
          <p:cNvPr id="46" name="Shape 44"/>
          <p:cNvSpPr/>
          <p:nvPr/>
        </p:nvSpPr>
        <p:spPr>
          <a:xfrm>
            <a:off x="320040" y="4773168"/>
            <a:ext cx="8503920" cy="237744"/>
          </a:xfrm>
          <a:prstGeom prst="rect">
            <a:avLst/>
          </a:prstGeom>
          <a:solidFill>
            <a:srgbClr val="0A1628"/>
          </a:solidFill>
          <a:ln/>
        </p:spPr>
      </p:sp>
      <p:sp>
        <p:nvSpPr>
          <p:cNvPr id="47" name="Text 45"/>
          <p:cNvSpPr/>
          <p:nvPr/>
        </p:nvSpPr>
        <p:spPr>
          <a:xfrm>
            <a:off x="411480" y="4791456"/>
            <a:ext cx="8321040" cy="201168"/>
          </a:xfrm>
          <a:prstGeom prst="rect">
            <a:avLst/>
          </a:prstGeom>
          <a:noFill/>
          <a:ln/>
        </p:spPr>
        <p:txBody>
          <a:bodyPr wrap="square" rtlCol="0" anchor="ctr"/>
          <a:lstStyle/>
          <a:p>
            <a:pPr marL="0" indent="0">
              <a:buNone/>
            </a:pPr>
            <a:r>
              <a:rPr lang="en-US" sz="750" dirty="0">
                <a:solidFill>
                  <a:srgbClr val="2EC4B6"/>
                </a:solidFill>
                <a:latin typeface="Calibri" pitchFamily="34" charset="0"/>
                <a:ea typeface="Calibri" pitchFamily="34" charset="-122"/>
                <a:cs typeface="Calibri" pitchFamily="34" charset="-120"/>
              </a:rPr>
              <a:t>⭐  Key test: test_same_name_different_pets (test_agent.py) — caught live guardrail safety bug. Name-only matching silently bypassed for identically-named tasks on different pets. Fixed in one line before any user hit it.</a:t>
            </a:r>
            <a:endParaRPr lang="en-US" sz="750" dirty="0"/>
          </a:p>
        </p:txBody>
      </p:sp>
      <p:sp>
        <p:nvSpPr>
          <p:cNvPr id="48" name="Shape 46"/>
          <p:cNvSpPr/>
          <p:nvPr/>
        </p:nvSpPr>
        <p:spPr>
          <a:xfrm>
            <a:off x="0" y="5020056"/>
            <a:ext cx="9144000" cy="123444"/>
          </a:xfrm>
          <a:prstGeom prst="rect">
            <a:avLst/>
          </a:prstGeom>
          <a:solidFill>
            <a:srgbClr val="FF6B35"/>
          </a:solidFill>
          <a:ln w="12700">
            <a:solidFill>
              <a:srgbClr val="FF6B35"/>
            </a:solidFill>
            <a:prstDash val="solid"/>
          </a:ln>
        </p:spPr>
      </p:sp>
      <p:sp>
        <p:nvSpPr>
          <p:cNvPr id="49" name="TextBox 48">
            <a:extLst>
              <a:ext uri="{FF2B5EF4-FFF2-40B4-BE49-F238E27FC236}">
                <a16:creationId xmlns:a16="http://schemas.microsoft.com/office/drawing/2014/main" id="{5E42A023-1D7E-E00F-1776-D4C55805BE6D}"/>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FF6B35"/>
          </a:solidFill>
          <a:ln w="12700">
            <a:solidFill>
              <a:srgbClr val="FF6B35"/>
            </a:solidFill>
            <a:prstDash val="solid"/>
          </a:ln>
        </p:spPr>
      </p:sp>
      <p:sp>
        <p:nvSpPr>
          <p:cNvPr id="3" name="Shape 1"/>
          <p:cNvSpPr/>
          <p:nvPr/>
        </p:nvSpPr>
        <p:spPr>
          <a:xfrm>
            <a:off x="457200" y="182880"/>
            <a:ext cx="1874520" cy="246888"/>
          </a:xfrm>
          <a:prstGeom prst="roundRect">
            <a:avLst>
              <a:gd name="adj" fmla="val 14815"/>
            </a:avLst>
          </a:prstGeom>
          <a:solidFill>
            <a:srgbClr val="FF6B35"/>
          </a:solidFill>
          <a:ln w="12700">
            <a:solidFill>
              <a:srgbClr val="FF6B35"/>
            </a:solidFill>
            <a:prstDash val="solid"/>
          </a:ln>
        </p:spPr>
      </p:sp>
      <p:sp>
        <p:nvSpPr>
          <p:cNvPr id="4" name="Text 2"/>
          <p:cNvSpPr/>
          <p:nvPr/>
        </p:nvSpPr>
        <p:spPr>
          <a:xfrm>
            <a:off x="457200" y="182880"/>
            <a:ext cx="1874520" cy="246888"/>
          </a:xfrm>
          <a:prstGeom prst="rect">
            <a:avLst/>
          </a:prstGeom>
          <a:noFill/>
          <a:ln/>
        </p:spPr>
        <p:txBody>
          <a:bodyPr wrap="square" rtlCol="0" anchor="ctr"/>
          <a:lstStyle/>
          <a:p>
            <a:pPr marL="0" indent="0" algn="ctr">
              <a:buNone/>
            </a:pPr>
            <a:r>
              <a:rPr lang="en-US" sz="800" b="1" kern="0" spc="200" dirty="0">
                <a:solidFill>
                  <a:srgbClr val="FFFFFF"/>
                </a:solidFill>
                <a:latin typeface="Calibri" pitchFamily="34" charset="0"/>
                <a:ea typeface="Calibri" pitchFamily="34" charset="-122"/>
                <a:cs typeface="Calibri" pitchFamily="34" charset="-120"/>
              </a:rPr>
              <a:t>THE REFLECTION</a:t>
            </a:r>
            <a:endParaRPr lang="en-US" sz="800" dirty="0"/>
          </a:p>
        </p:txBody>
      </p:sp>
      <p:sp>
        <p:nvSpPr>
          <p:cNvPr id="5" name="Text 3"/>
          <p:cNvSpPr/>
          <p:nvPr/>
        </p:nvSpPr>
        <p:spPr>
          <a:xfrm>
            <a:off x="457200" y="548640"/>
            <a:ext cx="8595360" cy="685800"/>
          </a:xfrm>
          <a:prstGeom prst="rect">
            <a:avLst/>
          </a:prstGeom>
          <a:noFill/>
          <a:ln/>
        </p:spPr>
        <p:txBody>
          <a:bodyPr wrap="square" rtlCol="0" anchor="ctr"/>
          <a:lstStyle/>
          <a:p>
            <a:pPr marL="0" indent="0">
              <a:buNone/>
            </a:pPr>
            <a:r>
              <a:rPr lang="en-US" sz="3000" b="1" dirty="0">
                <a:solidFill>
                  <a:srgbClr val="101B35"/>
                </a:solidFill>
                <a:latin typeface="Georgia" pitchFamily="34" charset="0"/>
                <a:ea typeface="Georgia" pitchFamily="34" charset="-122"/>
                <a:cs typeface="Georgia" pitchFamily="34" charset="-120"/>
              </a:rPr>
              <a:t>What Surprised Us Building PawPal+</a:t>
            </a:r>
            <a:endParaRPr lang="en-US" sz="3000" dirty="0"/>
          </a:p>
        </p:txBody>
      </p:sp>
      <p:sp>
        <p:nvSpPr>
          <p:cNvPr id="6" name="Shape 4"/>
          <p:cNvSpPr/>
          <p:nvPr/>
        </p:nvSpPr>
        <p:spPr>
          <a:xfrm>
            <a:off x="320040" y="1371600"/>
            <a:ext cx="8503920" cy="1060704"/>
          </a:xfrm>
          <a:prstGeom prst="rect">
            <a:avLst/>
          </a:prstGeom>
          <a:solidFill>
            <a:srgbClr val="FFFFFF"/>
          </a:solidFill>
          <a:ln/>
          <a:effectLst>
            <a:outerShdw blurRad="101600" dist="25400" dir="8100000" algn="bl" rotWithShape="0">
              <a:srgbClr val="000000">
                <a:alpha val="12000"/>
              </a:srgbClr>
            </a:outerShdw>
          </a:effectLst>
        </p:spPr>
      </p:sp>
      <p:sp>
        <p:nvSpPr>
          <p:cNvPr id="7" name="Shape 5"/>
          <p:cNvSpPr/>
          <p:nvPr/>
        </p:nvSpPr>
        <p:spPr>
          <a:xfrm>
            <a:off x="320040" y="1371600"/>
            <a:ext cx="64008" cy="1060704"/>
          </a:xfrm>
          <a:prstGeom prst="rect">
            <a:avLst/>
          </a:prstGeom>
          <a:solidFill>
            <a:srgbClr val="2EC4B6"/>
          </a:solidFill>
          <a:ln w="12700">
            <a:solidFill>
              <a:srgbClr val="2EC4B6"/>
            </a:solidFill>
            <a:prstDash val="solid"/>
          </a:ln>
        </p:spPr>
      </p:sp>
      <p:sp>
        <p:nvSpPr>
          <p:cNvPr id="8" name="Text 6"/>
          <p:cNvSpPr/>
          <p:nvPr/>
        </p:nvSpPr>
        <p:spPr>
          <a:xfrm>
            <a:off x="493776" y="1426464"/>
            <a:ext cx="502920" cy="502920"/>
          </a:xfrm>
          <a:prstGeom prst="rect">
            <a:avLst/>
          </a:prstGeom>
          <a:noFill/>
          <a:ln/>
        </p:spPr>
        <p:txBody>
          <a:bodyPr wrap="square" rtlCol="0" anchor="ctr"/>
          <a:lstStyle/>
          <a:p>
            <a:pPr marL="0" indent="0">
              <a:buNone/>
            </a:pPr>
            <a:r>
              <a:rPr lang="en-US" sz="2000" b="1" dirty="0">
                <a:solidFill>
                  <a:srgbClr val="2EC4B6"/>
                </a:solidFill>
                <a:latin typeface="Georgia" pitchFamily="34" charset="0"/>
                <a:ea typeface="Georgia" pitchFamily="34" charset="-122"/>
                <a:cs typeface="Georgia" pitchFamily="34" charset="-120"/>
              </a:rPr>
              <a:t>01</a:t>
            </a:r>
            <a:endParaRPr lang="en-US" sz="2000" dirty="0"/>
          </a:p>
        </p:txBody>
      </p:sp>
      <p:sp>
        <p:nvSpPr>
          <p:cNvPr id="9" name="Text 7"/>
          <p:cNvSpPr/>
          <p:nvPr/>
        </p:nvSpPr>
        <p:spPr>
          <a:xfrm>
            <a:off x="1078992" y="1444752"/>
            <a:ext cx="7589520" cy="347472"/>
          </a:xfrm>
          <a:prstGeom prst="rect">
            <a:avLst/>
          </a:prstGeom>
          <a:noFill/>
          <a:ln/>
        </p:spPr>
        <p:txBody>
          <a:bodyPr wrap="square" rtlCol="0" anchor="ctr"/>
          <a:lstStyle/>
          <a:p>
            <a:pPr marL="0" indent="0">
              <a:buNone/>
            </a:pPr>
            <a:r>
              <a:rPr lang="en-US" sz="1200" b="1" dirty="0">
                <a:solidFill>
                  <a:srgbClr val="101B35"/>
                </a:solidFill>
                <a:latin typeface="Georgia" pitchFamily="34" charset="0"/>
                <a:ea typeface="Georgia" pitchFamily="34" charset="-122"/>
                <a:cs typeface="Georgia" pitchFamily="34" charset="-120"/>
              </a:rPr>
              <a:t>🛡️  The guardrail caught more than expected</a:t>
            </a:r>
            <a:endParaRPr lang="en-US" sz="1200" dirty="0"/>
          </a:p>
        </p:txBody>
      </p:sp>
      <p:sp>
        <p:nvSpPr>
          <p:cNvPr id="10" name="Text 8"/>
          <p:cNvSpPr/>
          <p:nvPr/>
        </p:nvSpPr>
        <p:spPr>
          <a:xfrm>
            <a:off x="1078992" y="1810512"/>
            <a:ext cx="7589520" cy="566928"/>
          </a:xfrm>
          <a:prstGeom prst="rect">
            <a:avLst/>
          </a:prstGeom>
          <a:noFill/>
          <a:ln/>
        </p:spPr>
        <p:txBody>
          <a:bodyPr wrap="square" rtlCol="0" anchor="ctr"/>
          <a:lstStyle/>
          <a:p>
            <a:pPr marL="0" indent="0">
              <a:buNone/>
            </a:pPr>
            <a:r>
              <a:rPr lang="en-US" sz="900" dirty="0">
                <a:solidFill>
                  <a:srgbClr val="475569"/>
                </a:solidFill>
                <a:latin typeface="Calibri" pitchFamily="34" charset="0"/>
                <a:ea typeface="Calibri" pitchFamily="34" charset="-122"/>
                <a:cs typeface="Calibri" pitchFamily="34" charset="-120"/>
              </a:rPr>
              <a:t>test_same_name_different_pets was written as documentation, not a bug hunt. It failed on first run — revealing the original guardrail matched tasks by name only. Two pets with identically-named required tasks: only one would be detected missing. One line fix: (pet_name, task_name) tuple matching. Adversarial testing found what no review process would have.</a:t>
            </a:r>
            <a:endParaRPr lang="en-US" sz="900" dirty="0"/>
          </a:p>
        </p:txBody>
      </p:sp>
      <p:sp>
        <p:nvSpPr>
          <p:cNvPr id="11" name="Shape 9"/>
          <p:cNvSpPr/>
          <p:nvPr/>
        </p:nvSpPr>
        <p:spPr>
          <a:xfrm>
            <a:off x="320040" y="2542032"/>
            <a:ext cx="8503920" cy="1060704"/>
          </a:xfrm>
          <a:prstGeom prst="rect">
            <a:avLst/>
          </a:prstGeom>
          <a:solidFill>
            <a:srgbClr val="FFFFFF"/>
          </a:solidFill>
          <a:ln/>
          <a:effectLst>
            <a:outerShdw blurRad="101600" dist="25400" dir="8100000" algn="bl" rotWithShape="0">
              <a:srgbClr val="000000">
                <a:alpha val="12000"/>
              </a:srgbClr>
            </a:outerShdw>
          </a:effectLst>
        </p:spPr>
      </p:sp>
      <p:sp>
        <p:nvSpPr>
          <p:cNvPr id="12" name="Shape 10"/>
          <p:cNvSpPr/>
          <p:nvPr/>
        </p:nvSpPr>
        <p:spPr>
          <a:xfrm>
            <a:off x="320040" y="2542032"/>
            <a:ext cx="64008" cy="1060704"/>
          </a:xfrm>
          <a:prstGeom prst="rect">
            <a:avLst/>
          </a:prstGeom>
          <a:solidFill>
            <a:srgbClr val="FF6B35"/>
          </a:solidFill>
          <a:ln w="12700">
            <a:solidFill>
              <a:srgbClr val="FF6B35"/>
            </a:solidFill>
            <a:prstDash val="solid"/>
          </a:ln>
        </p:spPr>
      </p:sp>
      <p:sp>
        <p:nvSpPr>
          <p:cNvPr id="13" name="Text 11"/>
          <p:cNvSpPr/>
          <p:nvPr/>
        </p:nvSpPr>
        <p:spPr>
          <a:xfrm>
            <a:off x="493776" y="2596896"/>
            <a:ext cx="585216" cy="502920"/>
          </a:xfrm>
          <a:prstGeom prst="rect">
            <a:avLst/>
          </a:prstGeom>
          <a:noFill/>
          <a:ln/>
        </p:spPr>
        <p:txBody>
          <a:bodyPr wrap="square" rtlCol="0" anchor="ctr"/>
          <a:lstStyle/>
          <a:p>
            <a:pPr marL="0" indent="0">
              <a:buNone/>
            </a:pPr>
            <a:r>
              <a:rPr lang="en-US" sz="2000" b="1" dirty="0">
                <a:solidFill>
                  <a:srgbClr val="FF6B35"/>
                </a:solidFill>
                <a:latin typeface="Georgia" pitchFamily="34" charset="0"/>
                <a:ea typeface="Georgia" pitchFamily="34" charset="-122"/>
                <a:cs typeface="Georgia" pitchFamily="34" charset="-120"/>
              </a:rPr>
              <a:t>02</a:t>
            </a:r>
            <a:endParaRPr lang="en-US" sz="2000" dirty="0"/>
          </a:p>
        </p:txBody>
      </p:sp>
      <p:sp>
        <p:nvSpPr>
          <p:cNvPr id="14" name="Text 12"/>
          <p:cNvSpPr/>
          <p:nvPr/>
        </p:nvSpPr>
        <p:spPr>
          <a:xfrm>
            <a:off x="1078992" y="2615184"/>
            <a:ext cx="7589520" cy="347472"/>
          </a:xfrm>
          <a:prstGeom prst="rect">
            <a:avLst/>
          </a:prstGeom>
          <a:noFill/>
          <a:ln/>
        </p:spPr>
        <p:txBody>
          <a:bodyPr wrap="square" rtlCol="0" anchor="ctr"/>
          <a:lstStyle/>
          <a:p>
            <a:pPr marL="0" indent="0">
              <a:buNone/>
            </a:pPr>
            <a:r>
              <a:rPr lang="en-US" sz="1200" b="1" dirty="0">
                <a:solidFill>
                  <a:srgbClr val="101B35"/>
                </a:solidFill>
                <a:latin typeface="Georgia" pitchFamily="34" charset="0"/>
                <a:ea typeface="Georgia" pitchFamily="34" charset="-122"/>
                <a:cs typeface="Georgia" pitchFamily="34" charset="-120"/>
              </a:rPr>
              <a:t>📋  The audit log told an unexpected story</a:t>
            </a:r>
            <a:endParaRPr lang="en-US" sz="1200" dirty="0"/>
          </a:p>
        </p:txBody>
      </p:sp>
      <p:sp>
        <p:nvSpPr>
          <p:cNvPr id="15" name="Text 13"/>
          <p:cNvSpPr/>
          <p:nvPr/>
        </p:nvSpPr>
        <p:spPr>
          <a:xfrm>
            <a:off x="1078992" y="2980944"/>
            <a:ext cx="7589520" cy="566928"/>
          </a:xfrm>
          <a:prstGeom prst="rect">
            <a:avLst/>
          </a:prstGeom>
          <a:noFill/>
          <a:ln/>
        </p:spPr>
        <p:txBody>
          <a:bodyPr wrap="square" rtlCol="0" anchor="ctr"/>
          <a:lstStyle/>
          <a:p>
            <a:pPr marL="0" indent="0">
              <a:buNone/>
            </a:pPr>
            <a:r>
              <a:rPr lang="en-US" sz="900" dirty="0">
                <a:solidFill>
                  <a:srgbClr val="475569"/>
                </a:solidFill>
                <a:latin typeface="Calibri" pitchFamily="34" charset="0"/>
                <a:ea typeface="Calibri" pitchFamily="34" charset="-122"/>
                <a:cs typeface="Calibri" pitchFamily="34" charset="-120"/>
              </a:rPr>
              <a:t>The model consistently proposed empty schedules when resolving conflicts — interpreting 'fix conflicts' as 'produce a minimal schedule', not 'optimise the existing one'. 40+ guardrail log entries in one session made this behavioral misalignment visible. Without the append-only JSONL log, we would have assumed the model was behaving correctly.</a:t>
            </a:r>
            <a:endParaRPr lang="en-US" sz="900" dirty="0"/>
          </a:p>
        </p:txBody>
      </p:sp>
      <p:sp>
        <p:nvSpPr>
          <p:cNvPr id="16" name="Shape 14"/>
          <p:cNvSpPr/>
          <p:nvPr/>
        </p:nvSpPr>
        <p:spPr>
          <a:xfrm>
            <a:off x="320040" y="3712464"/>
            <a:ext cx="8503920" cy="1060704"/>
          </a:xfrm>
          <a:prstGeom prst="rect">
            <a:avLst/>
          </a:prstGeom>
          <a:solidFill>
            <a:srgbClr val="FFFFFF"/>
          </a:solidFill>
          <a:ln/>
          <a:effectLst>
            <a:outerShdw blurRad="101600" dist="25400" dir="8100000" algn="bl" rotWithShape="0">
              <a:srgbClr val="000000">
                <a:alpha val="12000"/>
              </a:srgbClr>
            </a:outerShdw>
          </a:effectLst>
        </p:spPr>
      </p:sp>
      <p:sp>
        <p:nvSpPr>
          <p:cNvPr id="17" name="Shape 15"/>
          <p:cNvSpPr/>
          <p:nvPr/>
        </p:nvSpPr>
        <p:spPr>
          <a:xfrm>
            <a:off x="320040" y="3712464"/>
            <a:ext cx="64008" cy="1060704"/>
          </a:xfrm>
          <a:prstGeom prst="rect">
            <a:avLst/>
          </a:prstGeom>
          <a:solidFill>
            <a:srgbClr val="7C3AED"/>
          </a:solidFill>
          <a:ln w="12700">
            <a:solidFill>
              <a:srgbClr val="7C3AED"/>
            </a:solidFill>
            <a:prstDash val="solid"/>
          </a:ln>
        </p:spPr>
      </p:sp>
      <p:sp>
        <p:nvSpPr>
          <p:cNvPr id="18" name="Text 16"/>
          <p:cNvSpPr/>
          <p:nvPr/>
        </p:nvSpPr>
        <p:spPr>
          <a:xfrm>
            <a:off x="493776" y="3767328"/>
            <a:ext cx="585216" cy="502920"/>
          </a:xfrm>
          <a:prstGeom prst="rect">
            <a:avLst/>
          </a:prstGeom>
          <a:noFill/>
          <a:ln/>
        </p:spPr>
        <p:txBody>
          <a:bodyPr wrap="square" rtlCol="0" anchor="ctr"/>
          <a:lstStyle/>
          <a:p>
            <a:pPr marL="0" indent="0">
              <a:buNone/>
            </a:pPr>
            <a:r>
              <a:rPr lang="en-US" sz="2000" b="1" dirty="0">
                <a:solidFill>
                  <a:srgbClr val="7C3AED"/>
                </a:solidFill>
                <a:latin typeface="Georgia" pitchFamily="34" charset="0"/>
                <a:ea typeface="Georgia" pitchFamily="34" charset="-122"/>
                <a:cs typeface="Georgia" pitchFamily="34" charset="-120"/>
              </a:rPr>
              <a:t>03</a:t>
            </a:r>
            <a:endParaRPr lang="en-US" sz="2000" dirty="0"/>
          </a:p>
        </p:txBody>
      </p:sp>
      <p:sp>
        <p:nvSpPr>
          <p:cNvPr id="19" name="Text 17"/>
          <p:cNvSpPr/>
          <p:nvPr/>
        </p:nvSpPr>
        <p:spPr>
          <a:xfrm>
            <a:off x="1078992" y="3785616"/>
            <a:ext cx="7589520" cy="347472"/>
          </a:xfrm>
          <a:prstGeom prst="rect">
            <a:avLst/>
          </a:prstGeom>
          <a:noFill/>
          <a:ln/>
        </p:spPr>
        <p:txBody>
          <a:bodyPr wrap="square" rtlCol="0" anchor="ctr"/>
          <a:lstStyle/>
          <a:p>
            <a:pPr marL="0" indent="0">
              <a:buNone/>
            </a:pPr>
            <a:r>
              <a:rPr lang="en-US" sz="1200" b="1" dirty="0">
                <a:solidFill>
                  <a:srgbClr val="101B35"/>
                </a:solidFill>
                <a:latin typeface="Georgia" pitchFamily="34" charset="0"/>
                <a:ea typeface="Georgia" pitchFamily="34" charset="-122"/>
                <a:cs typeface="Georgia" pitchFamily="34" charset="-120"/>
              </a:rPr>
              <a:t>🎨  -webkit-text-fill-color — the invisible bug</a:t>
            </a:r>
            <a:endParaRPr lang="en-US" sz="1200" dirty="0"/>
          </a:p>
        </p:txBody>
      </p:sp>
      <p:sp>
        <p:nvSpPr>
          <p:cNvPr id="20" name="Text 18"/>
          <p:cNvSpPr/>
          <p:nvPr/>
        </p:nvSpPr>
        <p:spPr>
          <a:xfrm>
            <a:off x="1078992" y="4151376"/>
            <a:ext cx="7589520" cy="566928"/>
          </a:xfrm>
          <a:prstGeom prst="rect">
            <a:avLst/>
          </a:prstGeom>
          <a:noFill/>
          <a:ln/>
        </p:spPr>
        <p:txBody>
          <a:bodyPr wrap="square" rtlCol="0" anchor="ctr"/>
          <a:lstStyle/>
          <a:p>
            <a:pPr marL="0" indent="0">
              <a:buNone/>
            </a:pPr>
            <a:r>
              <a:rPr lang="en-US" sz="900" dirty="0">
                <a:solidFill>
                  <a:srgbClr val="475569"/>
                </a:solidFill>
                <a:latin typeface="Calibri" pitchFamily="34" charset="0"/>
                <a:ea typeface="Calibri" pitchFamily="34" charset="-122"/>
                <a:cs typeface="Calibri" pitchFamily="34" charset="-120"/>
              </a:rPr>
              <a:t>Input text was invisible in sidebar inputs. The AI proposed a correct-looking CSS specificity fix (color: #E2E8F0). It did nothing. Chrome uses -webkit-text-fill-color, not color, for input rendering. No amount of reasoning about CSS cascade would have found it. Only running the browser revealed the root cause. Runtime behavior is not always derivable from specifications.</a:t>
            </a:r>
            <a:endParaRPr lang="en-US" sz="900" dirty="0"/>
          </a:p>
        </p:txBody>
      </p:sp>
      <p:sp>
        <p:nvSpPr>
          <p:cNvPr id="21" name="Shape 19"/>
          <p:cNvSpPr/>
          <p:nvPr/>
        </p:nvSpPr>
        <p:spPr>
          <a:xfrm>
            <a:off x="0" y="5020056"/>
            <a:ext cx="9144000" cy="123444"/>
          </a:xfrm>
          <a:prstGeom prst="rect">
            <a:avLst/>
          </a:prstGeom>
          <a:solidFill>
            <a:srgbClr val="101B35"/>
          </a:solidFill>
          <a:ln w="12700">
            <a:solidFill>
              <a:srgbClr val="101B35"/>
            </a:solidFill>
            <a:prstDash val="solid"/>
          </a:ln>
        </p:spPr>
      </p:sp>
      <p:sp>
        <p:nvSpPr>
          <p:cNvPr id="22" name="TextBox 21">
            <a:extLst>
              <a:ext uri="{FF2B5EF4-FFF2-40B4-BE49-F238E27FC236}">
                <a16:creationId xmlns:a16="http://schemas.microsoft.com/office/drawing/2014/main" id="{B665AF38-142B-E1C0-3B92-26DAEF002EA6}"/>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B35"/>
        </a:solidFill>
        <a:effectLst/>
      </p:bgPr>
    </p:bg>
    <p:spTree>
      <p:nvGrpSpPr>
        <p:cNvPr id="1" name=""/>
        <p:cNvGrpSpPr/>
        <p:nvPr/>
      </p:nvGrpSpPr>
      <p:grpSpPr>
        <a:xfrm>
          <a:off x="0" y="0"/>
          <a:ext cx="0" cy="0"/>
          <a:chOff x="0" y="0"/>
          <a:chExt cx="0" cy="0"/>
        </a:xfrm>
      </p:grpSpPr>
      <p:sp>
        <p:nvSpPr>
          <p:cNvPr id="2" name="Shape 0"/>
          <p:cNvSpPr/>
          <p:nvPr/>
        </p:nvSpPr>
        <p:spPr>
          <a:xfrm>
            <a:off x="0" y="0"/>
            <a:ext cx="9144000" cy="91440"/>
          </a:xfrm>
          <a:prstGeom prst="rect">
            <a:avLst/>
          </a:prstGeom>
          <a:solidFill>
            <a:srgbClr val="FF6B35"/>
          </a:solidFill>
          <a:ln w="12700">
            <a:solidFill>
              <a:srgbClr val="FF6B35"/>
            </a:solidFill>
            <a:prstDash val="solid"/>
          </a:ln>
        </p:spPr>
      </p:sp>
      <p:sp>
        <p:nvSpPr>
          <p:cNvPr id="3" name="Shape 1"/>
          <p:cNvSpPr/>
          <p:nvPr/>
        </p:nvSpPr>
        <p:spPr>
          <a:xfrm>
            <a:off x="457200" y="182880"/>
            <a:ext cx="1874520" cy="246888"/>
          </a:xfrm>
          <a:prstGeom prst="roundRect">
            <a:avLst>
              <a:gd name="adj" fmla="val 14815"/>
            </a:avLst>
          </a:prstGeom>
          <a:solidFill>
            <a:srgbClr val="FF6B35"/>
          </a:solidFill>
          <a:ln w="12700">
            <a:solidFill>
              <a:srgbClr val="FF6B35"/>
            </a:solidFill>
            <a:prstDash val="solid"/>
          </a:ln>
        </p:spPr>
      </p:sp>
      <p:sp>
        <p:nvSpPr>
          <p:cNvPr id="4" name="Text 2"/>
          <p:cNvSpPr/>
          <p:nvPr/>
        </p:nvSpPr>
        <p:spPr>
          <a:xfrm>
            <a:off x="457200" y="182880"/>
            <a:ext cx="1874520" cy="246888"/>
          </a:xfrm>
          <a:prstGeom prst="rect">
            <a:avLst/>
          </a:prstGeom>
          <a:noFill/>
          <a:ln/>
        </p:spPr>
        <p:txBody>
          <a:bodyPr wrap="square" rtlCol="0" anchor="ctr"/>
          <a:lstStyle/>
          <a:p>
            <a:pPr marL="0" indent="0" algn="ctr">
              <a:buNone/>
            </a:pPr>
            <a:r>
              <a:rPr lang="en-US" sz="800" b="1" kern="0" spc="200" dirty="0">
                <a:solidFill>
                  <a:srgbClr val="FFFFFF"/>
                </a:solidFill>
                <a:latin typeface="Calibri" pitchFamily="34" charset="0"/>
                <a:ea typeface="Calibri" pitchFamily="34" charset="-122"/>
                <a:cs typeface="Calibri" pitchFamily="34" charset="-120"/>
              </a:rPr>
              <a:t>AI COLLABORATION</a:t>
            </a:r>
            <a:endParaRPr lang="en-US" sz="800" dirty="0"/>
          </a:p>
        </p:txBody>
      </p:sp>
      <p:sp>
        <p:nvSpPr>
          <p:cNvPr id="5" name="Text 3"/>
          <p:cNvSpPr/>
          <p:nvPr/>
        </p:nvSpPr>
        <p:spPr>
          <a:xfrm>
            <a:off x="457200" y="548640"/>
            <a:ext cx="8595360" cy="685800"/>
          </a:xfrm>
          <a:prstGeom prst="rect">
            <a:avLst/>
          </a:prstGeom>
          <a:noFill/>
          <a:ln/>
        </p:spPr>
        <p:txBody>
          <a:bodyPr wrap="square" rtlCol="0" anchor="ctr"/>
          <a:lstStyle/>
          <a:p>
            <a:pPr marL="0" indent="0">
              <a:buNone/>
            </a:pPr>
            <a:r>
              <a:rPr lang="en-US" sz="3000" b="1" dirty="0">
                <a:solidFill>
                  <a:srgbClr val="FFFFFF"/>
                </a:solidFill>
                <a:latin typeface="Georgia" pitchFamily="34" charset="0"/>
                <a:ea typeface="Georgia" pitchFamily="34" charset="-122"/>
                <a:cs typeface="Georgia" pitchFamily="34" charset="-120"/>
              </a:rPr>
              <a:t>Human as Strategic Anchor · AI as Force Multiplier</a:t>
            </a:r>
            <a:endParaRPr lang="en-US" sz="3000" dirty="0"/>
          </a:p>
        </p:txBody>
      </p:sp>
      <p:sp>
        <p:nvSpPr>
          <p:cNvPr id="6" name="Shape 4"/>
          <p:cNvSpPr/>
          <p:nvPr/>
        </p:nvSpPr>
        <p:spPr>
          <a:xfrm>
            <a:off x="320040" y="1353312"/>
            <a:ext cx="4096512" cy="3364992"/>
          </a:xfrm>
          <a:prstGeom prst="rect">
            <a:avLst/>
          </a:prstGeom>
          <a:solidFill>
            <a:srgbClr val="1A2E55"/>
          </a:solidFill>
          <a:ln/>
        </p:spPr>
      </p:sp>
      <p:sp>
        <p:nvSpPr>
          <p:cNvPr id="7" name="Shape 5"/>
          <p:cNvSpPr/>
          <p:nvPr/>
        </p:nvSpPr>
        <p:spPr>
          <a:xfrm>
            <a:off x="320040" y="1353312"/>
            <a:ext cx="4096512" cy="64008"/>
          </a:xfrm>
          <a:prstGeom prst="rect">
            <a:avLst/>
          </a:prstGeom>
          <a:solidFill>
            <a:srgbClr val="2EC4B6"/>
          </a:solidFill>
          <a:ln w="12700">
            <a:solidFill>
              <a:srgbClr val="2EC4B6"/>
            </a:solidFill>
            <a:prstDash val="solid"/>
          </a:ln>
        </p:spPr>
      </p:sp>
      <p:sp>
        <p:nvSpPr>
          <p:cNvPr id="8" name="Text 6"/>
          <p:cNvSpPr/>
          <p:nvPr/>
        </p:nvSpPr>
        <p:spPr>
          <a:xfrm>
            <a:off x="502920" y="1463040"/>
            <a:ext cx="3749040" cy="347472"/>
          </a:xfrm>
          <a:prstGeom prst="rect">
            <a:avLst/>
          </a:prstGeom>
          <a:noFill/>
          <a:ln/>
        </p:spPr>
        <p:txBody>
          <a:bodyPr wrap="square" rtlCol="0" anchor="ctr"/>
          <a:lstStyle/>
          <a:p>
            <a:pPr marL="0" indent="0">
              <a:buNone/>
            </a:pPr>
            <a:r>
              <a:rPr lang="en-US" sz="1300" b="1" dirty="0">
                <a:solidFill>
                  <a:srgbClr val="2EC4B6"/>
                </a:solidFill>
                <a:latin typeface="Georgia" pitchFamily="34" charset="0"/>
                <a:ea typeface="Georgia" pitchFamily="34" charset="-122"/>
                <a:cs typeface="Georgia" pitchFamily="34" charset="-120"/>
              </a:rPr>
              <a:t>✅  Best Suggestion</a:t>
            </a:r>
            <a:endParaRPr lang="en-US" sz="1300" dirty="0"/>
          </a:p>
        </p:txBody>
      </p:sp>
      <p:sp>
        <p:nvSpPr>
          <p:cNvPr id="9" name="Text 7"/>
          <p:cNvSpPr/>
          <p:nvPr/>
        </p:nvSpPr>
        <p:spPr>
          <a:xfrm>
            <a:off x="502920" y="1847088"/>
            <a:ext cx="3749040" cy="365760"/>
          </a:xfrm>
          <a:prstGeom prst="rect">
            <a:avLst/>
          </a:prstGeom>
          <a:noFill/>
          <a:ln/>
        </p:spPr>
        <p:txBody>
          <a:bodyPr wrap="square" rtlCol="0" anchor="ctr"/>
          <a:lstStyle/>
          <a:p>
            <a:pPr marL="0" indent="0">
              <a:buNone/>
            </a:pPr>
            <a:r>
              <a:rPr lang="en-US" sz="1100" b="1" dirty="0">
                <a:solidFill>
                  <a:srgbClr val="FFFFFF"/>
                </a:solidFill>
                <a:latin typeface="Georgia" pitchFamily="34" charset="0"/>
                <a:ea typeface="Georgia" pitchFamily="34" charset="-122"/>
                <a:cs typeface="Georgia" pitchFamily="34" charset="-120"/>
              </a:rPr>
              <a:t>Make the guardrail structurally uncallable</a:t>
            </a:r>
            <a:endParaRPr lang="en-US" sz="1100" dirty="0"/>
          </a:p>
        </p:txBody>
      </p:sp>
      <p:sp>
        <p:nvSpPr>
          <p:cNvPr id="10" name="Text 8"/>
          <p:cNvSpPr/>
          <p:nvPr/>
        </p:nvSpPr>
        <p:spPr>
          <a:xfrm>
            <a:off x="502920" y="2286000"/>
            <a:ext cx="3749040" cy="233172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The AI identified that a behavioral guardrail ('the agent is instructed to call this') is weaker than a structural one.</a:t>
            </a:r>
            <a:endParaRPr lang="en-US" sz="900" dirty="0"/>
          </a:p>
          <a:p>
            <a:pPr marL="0" indent="0">
              <a:buNone/>
            </a:pP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Removing Tool 10 from TOOL_SCHEMAS entirely means no prompt — however crafted — can skip or disable the safety check.</a:t>
            </a:r>
            <a:endParaRPr lang="en-US" sz="900" dirty="0"/>
          </a:p>
          <a:p>
            <a:pPr marL="0" indent="0">
              <a:buNone/>
            </a:pP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This shifted safety from a convention to an architectural guarantee. The reasoning was precise and specific about a real threat model: prompt injection that disables the safety layer.</a:t>
            </a:r>
            <a:endParaRPr lang="en-US" sz="900" dirty="0"/>
          </a:p>
        </p:txBody>
      </p:sp>
      <p:sp>
        <p:nvSpPr>
          <p:cNvPr id="11" name="Shape 9"/>
          <p:cNvSpPr/>
          <p:nvPr/>
        </p:nvSpPr>
        <p:spPr>
          <a:xfrm>
            <a:off x="4727448" y="1353312"/>
            <a:ext cx="4096512" cy="3364992"/>
          </a:xfrm>
          <a:prstGeom prst="rect">
            <a:avLst/>
          </a:prstGeom>
          <a:solidFill>
            <a:srgbClr val="1A2E55"/>
          </a:solidFill>
          <a:ln/>
        </p:spPr>
      </p:sp>
      <p:sp>
        <p:nvSpPr>
          <p:cNvPr id="12" name="Shape 10"/>
          <p:cNvSpPr/>
          <p:nvPr/>
        </p:nvSpPr>
        <p:spPr>
          <a:xfrm>
            <a:off x="4727448" y="1353312"/>
            <a:ext cx="4096512" cy="64008"/>
          </a:xfrm>
          <a:prstGeom prst="rect">
            <a:avLst/>
          </a:prstGeom>
          <a:solidFill>
            <a:srgbClr val="FF6B35"/>
          </a:solidFill>
          <a:ln w="12700">
            <a:solidFill>
              <a:srgbClr val="FF6B35"/>
            </a:solidFill>
            <a:prstDash val="solid"/>
          </a:ln>
        </p:spPr>
      </p:sp>
      <p:sp>
        <p:nvSpPr>
          <p:cNvPr id="13" name="Text 11"/>
          <p:cNvSpPr/>
          <p:nvPr/>
        </p:nvSpPr>
        <p:spPr>
          <a:xfrm>
            <a:off x="4910328" y="1463040"/>
            <a:ext cx="3749040" cy="347472"/>
          </a:xfrm>
          <a:prstGeom prst="rect">
            <a:avLst/>
          </a:prstGeom>
          <a:noFill/>
          <a:ln/>
        </p:spPr>
        <p:txBody>
          <a:bodyPr wrap="square" rtlCol="0" anchor="ctr"/>
          <a:lstStyle/>
          <a:p>
            <a:pPr marL="0" indent="0">
              <a:buNone/>
            </a:pPr>
            <a:r>
              <a:rPr lang="en-US" sz="1300" b="1" dirty="0">
                <a:solidFill>
                  <a:srgbClr val="FF6B35"/>
                </a:solidFill>
                <a:latin typeface="Georgia" pitchFamily="34" charset="0"/>
                <a:ea typeface="Georgia" pitchFamily="34" charset="-122"/>
                <a:cs typeface="Georgia" pitchFamily="34" charset="-120"/>
              </a:rPr>
              <a:t>❌  Biggest Miss</a:t>
            </a:r>
            <a:endParaRPr lang="en-US" sz="1300" dirty="0"/>
          </a:p>
        </p:txBody>
      </p:sp>
      <p:sp>
        <p:nvSpPr>
          <p:cNvPr id="14" name="Text 12"/>
          <p:cNvSpPr/>
          <p:nvPr/>
        </p:nvSpPr>
        <p:spPr>
          <a:xfrm>
            <a:off x="4910328" y="1847088"/>
            <a:ext cx="3749040" cy="365760"/>
          </a:xfrm>
          <a:prstGeom prst="rect">
            <a:avLst/>
          </a:prstGeom>
          <a:noFill/>
          <a:ln/>
        </p:spPr>
        <p:txBody>
          <a:bodyPr wrap="square" rtlCol="0" anchor="ctr"/>
          <a:lstStyle/>
          <a:p>
            <a:pPr marL="0" indent="0">
              <a:buNone/>
            </a:pPr>
            <a:r>
              <a:rPr lang="en-US" sz="1100" b="1" dirty="0">
                <a:solidFill>
                  <a:srgbClr val="FFFFFF"/>
                </a:solidFill>
                <a:latin typeface="Georgia" pitchFamily="34" charset="0"/>
                <a:ea typeface="Georgia" pitchFamily="34" charset="-122"/>
                <a:cs typeface="Georgia" pitchFamily="34" charset="-120"/>
              </a:rPr>
              <a:t>The CSS fix that looked right and did nothing</a:t>
            </a:r>
            <a:endParaRPr lang="en-US" sz="1100" dirty="0"/>
          </a:p>
        </p:txBody>
      </p:sp>
      <p:sp>
        <p:nvSpPr>
          <p:cNvPr id="15" name="Text 13"/>
          <p:cNvSpPr/>
          <p:nvPr/>
        </p:nvSpPr>
        <p:spPr>
          <a:xfrm>
            <a:off x="4910328" y="2286000"/>
            <a:ext cx="3749040" cy="2331720"/>
          </a:xfrm>
          <a:prstGeom prst="rect">
            <a:avLst/>
          </a:prstGeom>
          <a:noFill/>
          <a:ln/>
        </p:spPr>
        <p:txBody>
          <a:bodyPr wrap="square" rtlCol="0" anchor="ctr"/>
          <a:lstStyle/>
          <a:p>
            <a:pPr marL="0" indent="0">
              <a:buNone/>
            </a:pPr>
            <a:r>
              <a:rPr lang="en-US" sz="900" dirty="0">
                <a:solidFill>
                  <a:srgbClr val="94A3B8"/>
                </a:solidFill>
                <a:latin typeface="Calibri" pitchFamily="34" charset="0"/>
                <a:ea typeface="Calibri" pitchFamily="34" charset="-122"/>
                <a:cs typeface="Calibri" pitchFamily="34" charset="-120"/>
              </a:rPr>
              <a:t>Invisible sidebar input text. AI proposed:</a:t>
            </a: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color: #E2E8F0 with correct CSS specificity.</a:t>
            </a:r>
            <a:endParaRPr lang="en-US" sz="900" dirty="0"/>
          </a:p>
          <a:p>
            <a:pPr marL="0" indent="0">
              <a:buNone/>
            </a:pP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Logically sound. Tested. Did nothing.</a:t>
            </a:r>
            <a:endParaRPr lang="en-US" sz="900" dirty="0"/>
          </a:p>
          <a:p>
            <a:pPr marL="0" indent="0">
              <a:buNone/>
            </a:pP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Chrome uses -webkit-text-fill-color for input rendering — Streamlit's BaseWeb layer sets it and the override never applied.</a:t>
            </a:r>
            <a:endParaRPr lang="en-US" sz="900" dirty="0"/>
          </a:p>
          <a:p>
            <a:pPr marL="0" indent="0">
              <a:buNone/>
            </a:pPr>
            <a:endParaRPr lang="en-US" sz="900" dirty="0"/>
          </a:p>
          <a:p>
            <a:pPr marL="0" indent="0">
              <a:buNone/>
            </a:pPr>
            <a:r>
              <a:rPr lang="en-US" sz="900" dirty="0">
                <a:solidFill>
                  <a:srgbClr val="94A3B8"/>
                </a:solidFill>
                <a:latin typeface="Calibri" pitchFamily="34" charset="0"/>
                <a:ea typeface="Calibri" pitchFamily="34" charset="-122"/>
                <a:cs typeface="Calibri" pitchFamily="34" charset="-120"/>
              </a:rPr>
              <a:t>The AI cannot run a browser. Any suggestion touching platform-specific rendering requires empirical verification.</a:t>
            </a:r>
            <a:endParaRPr lang="en-US" sz="900" dirty="0"/>
          </a:p>
        </p:txBody>
      </p:sp>
      <p:sp>
        <p:nvSpPr>
          <p:cNvPr id="16" name="Shape 14"/>
          <p:cNvSpPr/>
          <p:nvPr/>
        </p:nvSpPr>
        <p:spPr>
          <a:xfrm>
            <a:off x="320040" y="4800600"/>
            <a:ext cx="8503920" cy="237744"/>
          </a:xfrm>
          <a:prstGeom prst="rect">
            <a:avLst/>
          </a:prstGeom>
          <a:solidFill>
            <a:srgbClr val="0A1628"/>
          </a:solidFill>
          <a:ln/>
        </p:spPr>
      </p:sp>
      <p:sp>
        <p:nvSpPr>
          <p:cNvPr id="17" name="Text 15"/>
          <p:cNvSpPr/>
          <p:nvPr/>
        </p:nvSpPr>
        <p:spPr>
          <a:xfrm>
            <a:off x="411480" y="4818888"/>
            <a:ext cx="8321040" cy="201168"/>
          </a:xfrm>
          <a:prstGeom prst="rect">
            <a:avLst/>
          </a:prstGeom>
          <a:noFill/>
          <a:ln/>
        </p:spPr>
        <p:txBody>
          <a:bodyPr wrap="square" rtlCol="0" anchor="ctr"/>
          <a:lstStyle/>
          <a:p>
            <a:pPr marL="0" indent="0">
              <a:buNone/>
            </a:pPr>
            <a:r>
              <a:rPr lang="en-US" sz="750" dirty="0">
                <a:solidFill>
                  <a:srgbClr val="2EC4B6"/>
                </a:solidFill>
                <a:latin typeface="Calibri" pitchFamily="34" charset="0"/>
                <a:ea typeface="Calibri" pitchFamily="34" charset="-122"/>
                <a:cs typeface="Calibri" pitchFamily="34" charset="-120"/>
              </a:rPr>
              <a:t>💡  Key lesson: AI is most trustworthy when it gives a specific reason, not just an answer. Any suggestion touching runtime rendering or platform-specific behavior must be verified empirically — confidence is not a substitute for running the code.</a:t>
            </a:r>
            <a:endParaRPr lang="en-US" sz="750" dirty="0"/>
          </a:p>
        </p:txBody>
      </p:sp>
      <p:sp>
        <p:nvSpPr>
          <p:cNvPr id="18" name="Shape 16"/>
          <p:cNvSpPr/>
          <p:nvPr/>
        </p:nvSpPr>
        <p:spPr>
          <a:xfrm>
            <a:off x="0" y="5020056"/>
            <a:ext cx="9144000" cy="123444"/>
          </a:xfrm>
          <a:prstGeom prst="rect">
            <a:avLst/>
          </a:prstGeom>
          <a:solidFill>
            <a:srgbClr val="2EC4B6"/>
          </a:solidFill>
          <a:ln w="12700">
            <a:solidFill>
              <a:srgbClr val="2EC4B6"/>
            </a:solidFill>
            <a:prstDash val="solid"/>
          </a:ln>
        </p:spPr>
      </p:sp>
      <p:sp>
        <p:nvSpPr>
          <p:cNvPr id="19" name="TextBox 18">
            <a:extLst>
              <a:ext uri="{FF2B5EF4-FFF2-40B4-BE49-F238E27FC236}">
                <a16:creationId xmlns:a16="http://schemas.microsoft.com/office/drawing/2014/main" id="{74C0E935-5CBD-DA2F-E1B4-1EB0406715D4}"/>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B35"/>
        </a:solidFill>
        <a:effectLst/>
      </p:bgPr>
    </p:bg>
    <p:spTree>
      <p:nvGrpSpPr>
        <p:cNvPr id="1" name=""/>
        <p:cNvGrpSpPr/>
        <p:nvPr/>
      </p:nvGrpSpPr>
      <p:grpSpPr>
        <a:xfrm>
          <a:off x="0" y="0"/>
          <a:ext cx="0" cy="0"/>
          <a:chOff x="0" y="0"/>
          <a:chExt cx="0" cy="0"/>
        </a:xfrm>
      </p:grpSpPr>
      <p:sp>
        <p:nvSpPr>
          <p:cNvPr id="2" name="Shape 0"/>
          <p:cNvSpPr/>
          <p:nvPr/>
        </p:nvSpPr>
        <p:spPr>
          <a:xfrm>
            <a:off x="0" y="0"/>
            <a:ext cx="3520440" cy="5143500"/>
          </a:xfrm>
          <a:prstGeom prst="rect">
            <a:avLst/>
          </a:prstGeom>
          <a:solidFill>
            <a:srgbClr val="FF6B35"/>
          </a:solidFill>
          <a:ln w="12700">
            <a:solidFill>
              <a:srgbClr val="FF6B35"/>
            </a:solidFill>
            <a:prstDash val="solid"/>
          </a:ln>
        </p:spPr>
      </p:sp>
      <p:sp>
        <p:nvSpPr>
          <p:cNvPr id="3" name="Shape 1"/>
          <p:cNvSpPr/>
          <p:nvPr/>
        </p:nvSpPr>
        <p:spPr>
          <a:xfrm>
            <a:off x="0" y="3931920"/>
            <a:ext cx="3520440" cy="1211580"/>
          </a:xfrm>
          <a:prstGeom prst="rect">
            <a:avLst/>
          </a:prstGeom>
          <a:solidFill>
            <a:srgbClr val="CC4A15"/>
          </a:solidFill>
          <a:ln w="12700">
            <a:solidFill>
              <a:srgbClr val="CC4A15"/>
            </a:solidFill>
            <a:prstDash val="solid"/>
          </a:ln>
        </p:spPr>
      </p:sp>
      <p:sp>
        <p:nvSpPr>
          <p:cNvPr id="5" name="Text 3"/>
          <p:cNvSpPr/>
          <p:nvPr/>
        </p:nvSpPr>
        <p:spPr>
          <a:xfrm>
            <a:off x="137160" y="245907"/>
            <a:ext cx="3246120" cy="475488"/>
          </a:xfrm>
          <a:prstGeom prst="rect">
            <a:avLst/>
          </a:prstGeom>
          <a:noFill/>
          <a:ln/>
        </p:spPr>
        <p:txBody>
          <a:bodyPr wrap="square" rtlCol="0" anchor="ctr"/>
          <a:lstStyle/>
          <a:p>
            <a:pPr marL="0" indent="0" algn="ctr">
              <a:buNone/>
            </a:pPr>
            <a:r>
              <a:rPr lang="en-US" sz="2000" b="1" kern="0" spc="300" dirty="0">
                <a:solidFill>
                  <a:srgbClr val="FFFFFF"/>
                </a:solidFill>
                <a:latin typeface="Georgia" pitchFamily="34" charset="0"/>
                <a:ea typeface="Georgia" pitchFamily="34" charset="-122"/>
                <a:cs typeface="Georgia" pitchFamily="34" charset="-120"/>
              </a:rPr>
              <a:t>LIVE DEMO</a:t>
            </a:r>
            <a:endParaRPr lang="en-US" sz="2000" dirty="0"/>
          </a:p>
        </p:txBody>
      </p:sp>
      <p:sp>
        <p:nvSpPr>
          <p:cNvPr id="6" name="Text 4"/>
          <p:cNvSpPr/>
          <p:nvPr/>
        </p:nvSpPr>
        <p:spPr>
          <a:xfrm>
            <a:off x="109728" y="2446348"/>
            <a:ext cx="3246120" cy="475488"/>
          </a:xfrm>
          <a:prstGeom prst="rect">
            <a:avLst/>
          </a:prstGeom>
          <a:noFill/>
          <a:ln/>
        </p:spPr>
        <p:txBody>
          <a:bodyPr wrap="square" rtlCol="0" anchor="ctr"/>
          <a:lstStyle/>
          <a:p>
            <a:pPr marL="0" indent="0" algn="ctr">
              <a:buNone/>
            </a:pPr>
            <a:r>
              <a:rPr lang="en-US" sz="2000" b="1" kern="0" spc="300" dirty="0">
                <a:solidFill>
                  <a:srgbClr val="FFCCAA"/>
                </a:solidFill>
                <a:latin typeface="Georgia" pitchFamily="34" charset="0"/>
                <a:ea typeface="Georgia" pitchFamily="34" charset="-122"/>
                <a:cs typeface="Georgia" pitchFamily="34" charset="-120"/>
              </a:rPr>
              <a:t>&amp; Q&amp;A</a:t>
            </a:r>
            <a:endParaRPr lang="en-US" sz="2000" dirty="0"/>
          </a:p>
        </p:txBody>
      </p:sp>
      <p:sp>
        <p:nvSpPr>
          <p:cNvPr id="7" name="Text 5"/>
          <p:cNvSpPr/>
          <p:nvPr/>
        </p:nvSpPr>
        <p:spPr>
          <a:xfrm>
            <a:off x="109728" y="4005072"/>
            <a:ext cx="3300984" cy="292608"/>
          </a:xfrm>
          <a:prstGeom prst="rect">
            <a:avLst/>
          </a:prstGeom>
          <a:noFill/>
          <a:ln/>
        </p:spPr>
        <p:txBody>
          <a:bodyPr wrap="square"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Optional Features — All Completed</a:t>
            </a:r>
            <a:endParaRPr lang="en-US" sz="900" dirty="0"/>
          </a:p>
        </p:txBody>
      </p:sp>
      <p:sp>
        <p:nvSpPr>
          <p:cNvPr id="8" name="Text 6"/>
          <p:cNvSpPr/>
          <p:nvPr/>
        </p:nvSpPr>
        <p:spPr>
          <a:xfrm>
            <a:off x="164592" y="4315968"/>
            <a:ext cx="3200400" cy="146304"/>
          </a:xfrm>
          <a:prstGeom prst="rect">
            <a:avLst/>
          </a:prstGeom>
          <a:noFill/>
          <a:ln/>
        </p:spPr>
        <p:txBody>
          <a:bodyPr wrap="square" rtlCol="0" anchor="ctr"/>
          <a:lstStyle/>
          <a:p>
            <a:pPr marL="0" indent="0">
              <a:buNone/>
            </a:pPr>
            <a:r>
              <a:rPr lang="en-US" sz="800" dirty="0">
                <a:solidFill>
                  <a:srgbClr val="FFCCAA"/>
                </a:solidFill>
                <a:latin typeface="Calibri" pitchFamily="34" charset="0"/>
                <a:ea typeface="Calibri" pitchFamily="34" charset="-122"/>
                <a:cs typeface="Calibri" pitchFamily="34" charset="-120"/>
              </a:rPr>
              <a:t>✓  A — Agentic Workflow Enhancement</a:t>
            </a:r>
            <a:endParaRPr lang="en-US" sz="800" dirty="0"/>
          </a:p>
        </p:txBody>
      </p:sp>
      <p:sp>
        <p:nvSpPr>
          <p:cNvPr id="9" name="Text 7"/>
          <p:cNvSpPr/>
          <p:nvPr/>
        </p:nvSpPr>
        <p:spPr>
          <a:xfrm>
            <a:off x="164592" y="4480560"/>
            <a:ext cx="3200400" cy="146304"/>
          </a:xfrm>
          <a:prstGeom prst="rect">
            <a:avLst/>
          </a:prstGeom>
          <a:noFill/>
          <a:ln/>
        </p:spPr>
        <p:txBody>
          <a:bodyPr wrap="square" rtlCol="0" anchor="ctr"/>
          <a:lstStyle/>
          <a:p>
            <a:pPr marL="0" indent="0">
              <a:buNone/>
            </a:pPr>
            <a:r>
              <a:rPr lang="en-US" sz="800" dirty="0">
                <a:solidFill>
                  <a:srgbClr val="FFCCAA"/>
                </a:solidFill>
                <a:latin typeface="Calibri" pitchFamily="34" charset="0"/>
                <a:ea typeface="Calibri" pitchFamily="34" charset="-122"/>
                <a:cs typeface="Calibri" pitchFamily="34" charset="-120"/>
              </a:rPr>
              <a:t>✓  B — Model Specialization (Haiku+Sonnet)</a:t>
            </a:r>
            <a:endParaRPr lang="en-US" sz="800" dirty="0"/>
          </a:p>
        </p:txBody>
      </p:sp>
      <p:sp>
        <p:nvSpPr>
          <p:cNvPr id="10" name="Text 8"/>
          <p:cNvSpPr/>
          <p:nvPr/>
        </p:nvSpPr>
        <p:spPr>
          <a:xfrm>
            <a:off x="164592" y="4645152"/>
            <a:ext cx="3200400" cy="146304"/>
          </a:xfrm>
          <a:prstGeom prst="rect">
            <a:avLst/>
          </a:prstGeom>
          <a:noFill/>
          <a:ln/>
        </p:spPr>
        <p:txBody>
          <a:bodyPr wrap="square" rtlCol="0" anchor="ctr"/>
          <a:lstStyle/>
          <a:p>
            <a:pPr marL="0" indent="0">
              <a:buNone/>
            </a:pPr>
            <a:r>
              <a:rPr lang="en-US" sz="800" dirty="0">
                <a:solidFill>
                  <a:srgbClr val="FFCCAA"/>
                </a:solidFill>
                <a:latin typeface="Calibri" pitchFamily="34" charset="0"/>
                <a:ea typeface="Calibri" pitchFamily="34" charset="-122"/>
                <a:cs typeface="Calibri" pitchFamily="34" charset="-120"/>
              </a:rPr>
              <a:t>✓  C — Test Harness (219/219 tests)</a:t>
            </a:r>
            <a:endParaRPr lang="en-US" sz="800" dirty="0"/>
          </a:p>
        </p:txBody>
      </p:sp>
      <p:sp>
        <p:nvSpPr>
          <p:cNvPr id="11" name="Text 9"/>
          <p:cNvSpPr/>
          <p:nvPr/>
        </p:nvSpPr>
        <p:spPr>
          <a:xfrm>
            <a:off x="3749040" y="256032"/>
            <a:ext cx="5120640" cy="502920"/>
          </a:xfrm>
          <a:prstGeom prst="rect">
            <a:avLst/>
          </a:prstGeom>
          <a:noFill/>
          <a:ln/>
        </p:spPr>
        <p:txBody>
          <a:bodyPr wrap="square" rtlCol="0" anchor="ctr"/>
          <a:lstStyle/>
          <a:p>
            <a:pPr marL="0" indent="0">
              <a:buNone/>
            </a:pPr>
            <a:r>
              <a:rPr lang="en-US" sz="2200" b="1" dirty="0">
                <a:solidFill>
                  <a:srgbClr val="FFFFFF"/>
                </a:solidFill>
                <a:latin typeface="Georgia" pitchFamily="34" charset="0"/>
                <a:ea typeface="Georgia" pitchFamily="34" charset="-122"/>
                <a:cs typeface="Georgia" pitchFamily="34" charset="-120"/>
              </a:rPr>
              <a:t>Demo Walkthrough</a:t>
            </a:r>
            <a:endParaRPr lang="en-US" sz="2200" dirty="0"/>
          </a:p>
        </p:txBody>
      </p:sp>
      <p:sp>
        <p:nvSpPr>
          <p:cNvPr id="12" name="Shape 10"/>
          <p:cNvSpPr/>
          <p:nvPr/>
        </p:nvSpPr>
        <p:spPr>
          <a:xfrm>
            <a:off x="3749040" y="804672"/>
            <a:ext cx="5120640" cy="0"/>
          </a:xfrm>
          <a:prstGeom prst="line">
            <a:avLst/>
          </a:prstGeom>
          <a:noFill/>
          <a:ln w="12700">
            <a:solidFill>
              <a:srgbClr val="2A4070"/>
            </a:solidFill>
            <a:prstDash val="solid"/>
          </a:ln>
        </p:spPr>
      </p:sp>
      <p:sp>
        <p:nvSpPr>
          <p:cNvPr id="13" name="Shape 11"/>
          <p:cNvSpPr/>
          <p:nvPr/>
        </p:nvSpPr>
        <p:spPr>
          <a:xfrm>
            <a:off x="3749040" y="1042416"/>
            <a:ext cx="347472" cy="347472"/>
          </a:xfrm>
          <a:prstGeom prst="ellipse">
            <a:avLst/>
          </a:prstGeom>
          <a:solidFill>
            <a:srgbClr val="FF6B35"/>
          </a:solidFill>
          <a:ln w="12700">
            <a:solidFill>
              <a:srgbClr val="FF6B35"/>
            </a:solidFill>
            <a:prstDash val="solid"/>
          </a:ln>
        </p:spPr>
      </p:sp>
      <p:sp>
        <p:nvSpPr>
          <p:cNvPr id="14" name="Text 12"/>
          <p:cNvSpPr/>
          <p:nvPr/>
        </p:nvSpPr>
        <p:spPr>
          <a:xfrm>
            <a:off x="3749040" y="1042416"/>
            <a:ext cx="347472" cy="347472"/>
          </a:xfrm>
          <a:prstGeom prst="rect">
            <a:avLst/>
          </a:prstGeom>
          <a:noFill/>
          <a:ln/>
        </p:spPr>
        <p:txBody>
          <a:bodyPr wrap="square" rtlCol="0" anchor="ctr"/>
          <a:lstStyle/>
          <a:p>
            <a:pPr marL="0" indent="0" algn="ctr">
              <a:buNone/>
            </a:pPr>
            <a:r>
              <a:rPr lang="en-US" sz="1100" b="1" dirty="0">
                <a:solidFill>
                  <a:srgbClr val="101B35"/>
                </a:solidFill>
                <a:latin typeface="Calibri" pitchFamily="34" charset="0"/>
                <a:ea typeface="Calibri" pitchFamily="34" charset="-122"/>
                <a:cs typeface="Calibri" pitchFamily="34" charset="-120"/>
              </a:rPr>
              <a:t>1</a:t>
            </a:r>
            <a:endParaRPr lang="en-US" sz="1100" dirty="0"/>
          </a:p>
        </p:txBody>
      </p:sp>
      <p:sp>
        <p:nvSpPr>
          <p:cNvPr id="15" name="Text 13"/>
          <p:cNvSpPr/>
          <p:nvPr/>
        </p:nvSpPr>
        <p:spPr>
          <a:xfrm>
            <a:off x="4224528" y="969264"/>
            <a:ext cx="4663440" cy="310896"/>
          </a:xfrm>
          <a:prstGeom prst="rect">
            <a:avLst/>
          </a:prstGeom>
          <a:noFill/>
          <a:ln/>
        </p:spPr>
        <p:txBody>
          <a:bodyPr wrap="square" rtlCol="0" anchor="ctr"/>
          <a:lstStyle/>
          <a:p>
            <a:pPr marL="0" indent="0">
              <a:buNone/>
            </a:pPr>
            <a:r>
              <a:rPr lang="en-US" sz="1150" b="1" dirty="0">
                <a:solidFill>
                  <a:srgbClr val="FFFFFF"/>
                </a:solidFill>
                <a:latin typeface="Georgia" pitchFamily="34" charset="0"/>
                <a:ea typeface="Georgia" pitchFamily="34" charset="-122"/>
                <a:cs typeface="Georgia" pitchFamily="34" charset="-120"/>
              </a:rPr>
              <a:t>Natural Language Task Entry</a:t>
            </a:r>
            <a:endParaRPr lang="en-US" sz="1150" dirty="0"/>
          </a:p>
        </p:txBody>
      </p:sp>
      <p:sp>
        <p:nvSpPr>
          <p:cNvPr id="16" name="Text 14"/>
          <p:cNvSpPr/>
          <p:nvPr/>
        </p:nvSpPr>
        <p:spPr>
          <a:xfrm>
            <a:off x="4224528" y="1289304"/>
            <a:ext cx="4663440" cy="43891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Type 'Add a 30-min walk for Rex at 8 AM, required' → watch Haiku 4.5 extract all fields via a single tool-use call. Show the clarification flow for an ambiguous input.</a:t>
            </a:r>
            <a:endParaRPr lang="en-US" sz="850" dirty="0"/>
          </a:p>
        </p:txBody>
      </p:sp>
      <p:sp>
        <p:nvSpPr>
          <p:cNvPr id="17" name="Shape 15"/>
          <p:cNvSpPr/>
          <p:nvPr/>
        </p:nvSpPr>
        <p:spPr>
          <a:xfrm>
            <a:off x="3749040" y="1847088"/>
            <a:ext cx="347472" cy="347472"/>
          </a:xfrm>
          <a:prstGeom prst="ellipse">
            <a:avLst/>
          </a:prstGeom>
          <a:solidFill>
            <a:srgbClr val="2EC4B6"/>
          </a:solidFill>
          <a:ln w="12700">
            <a:solidFill>
              <a:srgbClr val="2EC4B6"/>
            </a:solidFill>
            <a:prstDash val="solid"/>
          </a:ln>
        </p:spPr>
      </p:sp>
      <p:sp>
        <p:nvSpPr>
          <p:cNvPr id="18" name="Text 16"/>
          <p:cNvSpPr/>
          <p:nvPr/>
        </p:nvSpPr>
        <p:spPr>
          <a:xfrm>
            <a:off x="3749040" y="1847088"/>
            <a:ext cx="347472" cy="347472"/>
          </a:xfrm>
          <a:prstGeom prst="rect">
            <a:avLst/>
          </a:prstGeom>
          <a:noFill/>
          <a:ln/>
        </p:spPr>
        <p:txBody>
          <a:bodyPr wrap="square" rtlCol="0" anchor="ctr"/>
          <a:lstStyle/>
          <a:p>
            <a:pPr marL="0" indent="0" algn="ctr">
              <a:buNone/>
            </a:pPr>
            <a:r>
              <a:rPr lang="en-US" sz="1100" b="1" dirty="0">
                <a:solidFill>
                  <a:srgbClr val="101B35"/>
                </a:solidFill>
                <a:latin typeface="Calibri" pitchFamily="34" charset="0"/>
                <a:ea typeface="Calibri" pitchFamily="34" charset="-122"/>
                <a:cs typeface="Calibri" pitchFamily="34" charset="-120"/>
              </a:rPr>
              <a:t>2</a:t>
            </a:r>
            <a:endParaRPr lang="en-US" sz="1100" dirty="0"/>
          </a:p>
        </p:txBody>
      </p:sp>
      <p:sp>
        <p:nvSpPr>
          <p:cNvPr id="19" name="Text 17"/>
          <p:cNvSpPr/>
          <p:nvPr/>
        </p:nvSpPr>
        <p:spPr>
          <a:xfrm>
            <a:off x="4224528" y="1773936"/>
            <a:ext cx="4663440" cy="310896"/>
          </a:xfrm>
          <a:prstGeom prst="rect">
            <a:avLst/>
          </a:prstGeom>
          <a:noFill/>
          <a:ln/>
        </p:spPr>
        <p:txBody>
          <a:bodyPr wrap="square" rtlCol="0" anchor="ctr"/>
          <a:lstStyle/>
          <a:p>
            <a:pPr marL="0" indent="0">
              <a:buNone/>
            </a:pPr>
            <a:r>
              <a:rPr lang="en-US" sz="1150" b="1" dirty="0">
                <a:solidFill>
                  <a:srgbClr val="FFFFFF"/>
                </a:solidFill>
                <a:latin typeface="Georgia" pitchFamily="34" charset="0"/>
                <a:ea typeface="Georgia" pitchFamily="34" charset="-122"/>
                <a:cs typeface="Georgia" pitchFamily="34" charset="-120"/>
              </a:rPr>
              <a:t>Optimize Schedule + ReAct Loop</a:t>
            </a:r>
            <a:endParaRPr lang="en-US" sz="1150" dirty="0"/>
          </a:p>
        </p:txBody>
      </p:sp>
      <p:sp>
        <p:nvSpPr>
          <p:cNvPr id="20" name="Text 18"/>
          <p:cNvSpPr/>
          <p:nvPr/>
        </p:nvSpPr>
        <p:spPr>
          <a:xfrm>
            <a:off x="4224528" y="2093976"/>
            <a:ext cx="4663440" cy="43891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Click Optimize — Sonnet 4.6 resolves conflicts step by step. Show the full Thought → Action → Observation trace in the UI expander. Gantt chart updates live.</a:t>
            </a:r>
            <a:endParaRPr lang="en-US" sz="850" dirty="0"/>
          </a:p>
        </p:txBody>
      </p:sp>
      <p:sp>
        <p:nvSpPr>
          <p:cNvPr id="21" name="Shape 19"/>
          <p:cNvSpPr/>
          <p:nvPr/>
        </p:nvSpPr>
        <p:spPr>
          <a:xfrm>
            <a:off x="3749040" y="2651760"/>
            <a:ext cx="347472" cy="347472"/>
          </a:xfrm>
          <a:prstGeom prst="ellipse">
            <a:avLst/>
          </a:prstGeom>
          <a:solidFill>
            <a:srgbClr val="DC2626"/>
          </a:solidFill>
          <a:ln w="12700">
            <a:solidFill>
              <a:srgbClr val="DC2626"/>
            </a:solidFill>
            <a:prstDash val="solid"/>
          </a:ln>
        </p:spPr>
      </p:sp>
      <p:sp>
        <p:nvSpPr>
          <p:cNvPr id="22" name="Text 20"/>
          <p:cNvSpPr/>
          <p:nvPr/>
        </p:nvSpPr>
        <p:spPr>
          <a:xfrm>
            <a:off x="3749040" y="2651760"/>
            <a:ext cx="347472" cy="347472"/>
          </a:xfrm>
          <a:prstGeom prst="rect">
            <a:avLst/>
          </a:prstGeom>
          <a:noFill/>
          <a:ln/>
        </p:spPr>
        <p:txBody>
          <a:bodyPr wrap="square" rtlCol="0" anchor="ctr"/>
          <a:lstStyle/>
          <a:p>
            <a:pPr marL="0" indent="0" algn="ctr">
              <a:buNone/>
            </a:pPr>
            <a:r>
              <a:rPr lang="en-US" sz="1100" b="1" dirty="0">
                <a:solidFill>
                  <a:srgbClr val="101B35"/>
                </a:solidFill>
                <a:latin typeface="Calibri" pitchFamily="34" charset="0"/>
                <a:ea typeface="Calibri" pitchFamily="34" charset="-122"/>
                <a:cs typeface="Calibri" pitchFamily="34" charset="-120"/>
              </a:rPr>
              <a:t>3</a:t>
            </a:r>
            <a:endParaRPr lang="en-US" sz="1100" dirty="0"/>
          </a:p>
        </p:txBody>
      </p:sp>
      <p:sp>
        <p:nvSpPr>
          <p:cNvPr id="23" name="Text 21"/>
          <p:cNvSpPr/>
          <p:nvPr/>
        </p:nvSpPr>
        <p:spPr>
          <a:xfrm>
            <a:off x="4224528" y="2578608"/>
            <a:ext cx="4663440" cy="310896"/>
          </a:xfrm>
          <a:prstGeom prst="rect">
            <a:avLst/>
          </a:prstGeom>
          <a:noFill/>
          <a:ln/>
        </p:spPr>
        <p:txBody>
          <a:bodyPr wrap="square" rtlCol="0" anchor="ctr"/>
          <a:lstStyle/>
          <a:p>
            <a:pPr marL="0" indent="0">
              <a:buNone/>
            </a:pPr>
            <a:r>
              <a:rPr lang="en-US" sz="1150" b="1" dirty="0">
                <a:solidFill>
                  <a:srgbClr val="FFFFFF"/>
                </a:solidFill>
                <a:latin typeface="Georgia" pitchFamily="34" charset="0"/>
                <a:ea typeface="Georgia" pitchFamily="34" charset="-122"/>
                <a:cs typeface="Georgia" pitchFamily="34" charset="-120"/>
              </a:rPr>
              <a:t>Trigger the Safety Guardrail</a:t>
            </a:r>
            <a:endParaRPr lang="en-US" sz="1150" dirty="0"/>
          </a:p>
        </p:txBody>
      </p:sp>
      <p:sp>
        <p:nvSpPr>
          <p:cNvPr id="24" name="Text 22"/>
          <p:cNvSpPr/>
          <p:nvPr/>
        </p:nvSpPr>
        <p:spPr>
          <a:xfrm>
            <a:off x="4224528" y="2898648"/>
            <a:ext cx="4663440" cy="43891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Drop a required task from the schedule — the orange banner fires, required tasks are auto-restored, and the guardrail_violations.jsonl log records the event.</a:t>
            </a:r>
            <a:endParaRPr lang="en-US" sz="850" dirty="0"/>
          </a:p>
        </p:txBody>
      </p:sp>
      <p:sp>
        <p:nvSpPr>
          <p:cNvPr id="25" name="Shape 23"/>
          <p:cNvSpPr/>
          <p:nvPr/>
        </p:nvSpPr>
        <p:spPr>
          <a:xfrm>
            <a:off x="3749040" y="3456432"/>
            <a:ext cx="347472" cy="347472"/>
          </a:xfrm>
          <a:prstGeom prst="ellipse">
            <a:avLst/>
          </a:prstGeom>
          <a:solidFill>
            <a:srgbClr val="F59E0B"/>
          </a:solidFill>
          <a:ln w="12700">
            <a:solidFill>
              <a:srgbClr val="F59E0B"/>
            </a:solidFill>
            <a:prstDash val="solid"/>
          </a:ln>
        </p:spPr>
      </p:sp>
      <p:sp>
        <p:nvSpPr>
          <p:cNvPr id="26" name="Text 24"/>
          <p:cNvSpPr/>
          <p:nvPr/>
        </p:nvSpPr>
        <p:spPr>
          <a:xfrm>
            <a:off x="3749040" y="3456432"/>
            <a:ext cx="347472" cy="347472"/>
          </a:xfrm>
          <a:prstGeom prst="rect">
            <a:avLst/>
          </a:prstGeom>
          <a:noFill/>
          <a:ln/>
        </p:spPr>
        <p:txBody>
          <a:bodyPr wrap="square" rtlCol="0" anchor="ctr"/>
          <a:lstStyle/>
          <a:p>
            <a:pPr marL="0" indent="0" algn="ctr">
              <a:buNone/>
            </a:pPr>
            <a:r>
              <a:rPr lang="en-US" sz="1100" b="1" dirty="0">
                <a:solidFill>
                  <a:srgbClr val="101B35"/>
                </a:solidFill>
                <a:latin typeface="Calibri" pitchFamily="34" charset="0"/>
                <a:ea typeface="Calibri" pitchFamily="34" charset="-122"/>
                <a:cs typeface="Calibri" pitchFamily="34" charset="-120"/>
              </a:rPr>
              <a:t>4</a:t>
            </a:r>
            <a:endParaRPr lang="en-US" sz="1100" dirty="0"/>
          </a:p>
        </p:txBody>
      </p:sp>
      <p:sp>
        <p:nvSpPr>
          <p:cNvPr id="27" name="Text 25"/>
          <p:cNvSpPr/>
          <p:nvPr/>
        </p:nvSpPr>
        <p:spPr>
          <a:xfrm>
            <a:off x="4224528" y="3383280"/>
            <a:ext cx="4663440" cy="310896"/>
          </a:xfrm>
          <a:prstGeom prst="rect">
            <a:avLst/>
          </a:prstGeom>
          <a:noFill/>
          <a:ln/>
        </p:spPr>
        <p:txBody>
          <a:bodyPr wrap="square" rtlCol="0" anchor="ctr"/>
          <a:lstStyle/>
          <a:p>
            <a:pPr marL="0" indent="0">
              <a:buNone/>
            </a:pPr>
            <a:r>
              <a:rPr lang="en-US" sz="1150" b="1" dirty="0">
                <a:solidFill>
                  <a:srgbClr val="FFFFFF"/>
                </a:solidFill>
                <a:latin typeface="Georgia" pitchFamily="34" charset="0"/>
                <a:ea typeface="Georgia" pitchFamily="34" charset="-122"/>
                <a:cs typeface="Georgia" pitchFamily="34" charset="-120"/>
              </a:rPr>
              <a:t>Performance Report</a:t>
            </a:r>
            <a:endParaRPr lang="en-US" sz="1150" dirty="0"/>
          </a:p>
        </p:txBody>
      </p:sp>
      <p:sp>
        <p:nvSpPr>
          <p:cNvPr id="28" name="Text 26"/>
          <p:cNvSpPr/>
          <p:nvPr/>
        </p:nvSpPr>
        <p:spPr>
          <a:xfrm>
            <a:off x="4224528" y="3703320"/>
            <a:ext cx="4663440" cy="43891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Open the cache report — show prompt-caching token savings (~97% static head cached). Demonstrate that repeated calls within 5 minutes reuse the cached system prompt.</a:t>
            </a:r>
            <a:endParaRPr lang="en-US" sz="850" dirty="0"/>
          </a:p>
        </p:txBody>
      </p:sp>
      <p:sp>
        <p:nvSpPr>
          <p:cNvPr id="29" name="Shape 27"/>
          <p:cNvSpPr/>
          <p:nvPr/>
        </p:nvSpPr>
        <p:spPr>
          <a:xfrm>
            <a:off x="3749040" y="4261104"/>
            <a:ext cx="347472" cy="347472"/>
          </a:xfrm>
          <a:prstGeom prst="ellipse">
            <a:avLst/>
          </a:prstGeom>
          <a:solidFill>
            <a:srgbClr val="94A3B8"/>
          </a:solidFill>
          <a:ln w="12700">
            <a:solidFill>
              <a:srgbClr val="94A3B8"/>
            </a:solidFill>
            <a:prstDash val="solid"/>
          </a:ln>
        </p:spPr>
      </p:sp>
      <p:sp>
        <p:nvSpPr>
          <p:cNvPr id="30" name="Text 28"/>
          <p:cNvSpPr/>
          <p:nvPr/>
        </p:nvSpPr>
        <p:spPr>
          <a:xfrm>
            <a:off x="3749040" y="4261104"/>
            <a:ext cx="347472" cy="347472"/>
          </a:xfrm>
          <a:prstGeom prst="rect">
            <a:avLst/>
          </a:prstGeom>
          <a:noFill/>
          <a:ln/>
        </p:spPr>
        <p:txBody>
          <a:bodyPr wrap="square" rtlCol="0" anchor="ctr"/>
          <a:lstStyle/>
          <a:p>
            <a:pPr marL="0" indent="0" algn="ctr">
              <a:buNone/>
            </a:pPr>
            <a:r>
              <a:rPr lang="en-US" sz="1100" b="1" dirty="0">
                <a:solidFill>
                  <a:srgbClr val="101B35"/>
                </a:solidFill>
                <a:latin typeface="Calibri" pitchFamily="34" charset="0"/>
                <a:ea typeface="Calibri" pitchFamily="34" charset="-122"/>
                <a:cs typeface="Calibri" pitchFamily="34" charset="-120"/>
              </a:rPr>
              <a:t>5</a:t>
            </a:r>
            <a:endParaRPr lang="en-US" sz="1100" dirty="0"/>
          </a:p>
        </p:txBody>
      </p:sp>
      <p:sp>
        <p:nvSpPr>
          <p:cNvPr id="31" name="Text 29"/>
          <p:cNvSpPr/>
          <p:nvPr/>
        </p:nvSpPr>
        <p:spPr>
          <a:xfrm>
            <a:off x="4224528" y="4187952"/>
            <a:ext cx="4663440" cy="310896"/>
          </a:xfrm>
          <a:prstGeom prst="rect">
            <a:avLst/>
          </a:prstGeom>
          <a:noFill/>
          <a:ln/>
        </p:spPr>
        <p:txBody>
          <a:bodyPr wrap="square" rtlCol="0" anchor="ctr"/>
          <a:lstStyle/>
          <a:p>
            <a:pPr marL="0" indent="0">
              <a:buNone/>
            </a:pPr>
            <a:r>
              <a:rPr lang="en-US" sz="1150" b="1" dirty="0">
                <a:solidFill>
                  <a:srgbClr val="FFFFFF"/>
                </a:solidFill>
                <a:latin typeface="Georgia" pitchFamily="34" charset="0"/>
                <a:ea typeface="Georgia" pitchFamily="34" charset="-122"/>
                <a:cs typeface="Georgia" pitchFamily="34" charset="-120"/>
              </a:rPr>
              <a:t>Q&amp;A — Architecture · Testing · Design</a:t>
            </a:r>
            <a:endParaRPr lang="en-US" sz="1150" dirty="0"/>
          </a:p>
        </p:txBody>
      </p:sp>
      <p:sp>
        <p:nvSpPr>
          <p:cNvPr id="32" name="Text 30"/>
          <p:cNvSpPr/>
          <p:nvPr/>
        </p:nvSpPr>
        <p:spPr>
          <a:xfrm>
            <a:off x="4224528" y="4507992"/>
            <a:ext cx="4663440" cy="438912"/>
          </a:xfrm>
          <a:prstGeom prst="rect">
            <a:avLst/>
          </a:prstGeom>
          <a:noFill/>
          <a:ln/>
        </p:spPr>
        <p:txBody>
          <a:bodyPr wrap="square" rtlCol="0" anchor="ctr"/>
          <a:lstStyle/>
          <a:p>
            <a:pPr marL="0" indent="0">
              <a:buNone/>
            </a:pPr>
            <a:r>
              <a:rPr lang="en-US" sz="850" dirty="0">
                <a:solidFill>
                  <a:srgbClr val="94A3B8"/>
                </a:solidFill>
                <a:latin typeface="Calibri" pitchFamily="34" charset="0"/>
                <a:ea typeface="Calibri" pitchFamily="34" charset="-122"/>
                <a:cs typeface="Calibri" pitchFamily="34" charset="-120"/>
              </a:rPr>
              <a:t>Guardrail structural design · two-model cost strategy · TDD approach · what we'd build next.</a:t>
            </a:r>
            <a:endParaRPr lang="en-US" sz="850" dirty="0"/>
          </a:p>
        </p:txBody>
      </p:sp>
      <p:pic>
        <p:nvPicPr>
          <p:cNvPr id="36" name="Picture 35">
            <a:extLst>
              <a:ext uri="{FF2B5EF4-FFF2-40B4-BE49-F238E27FC236}">
                <a16:creationId xmlns:a16="http://schemas.microsoft.com/office/drawing/2014/main" id="{6674EACD-2403-F8AC-FB66-C6DE7238CFF7}"/>
              </a:ext>
            </a:extLst>
          </p:cNvPr>
          <p:cNvPicPr>
            <a:picLocks noChangeAspect="1"/>
          </p:cNvPicPr>
          <p:nvPr/>
        </p:nvPicPr>
        <p:blipFill>
          <a:blip r:embed="rId3"/>
          <a:stretch>
            <a:fillRect/>
          </a:stretch>
        </p:blipFill>
        <p:spPr>
          <a:xfrm>
            <a:off x="35208" y="721395"/>
            <a:ext cx="3413448" cy="1738014"/>
          </a:xfrm>
          <a:prstGeom prst="rect">
            <a:avLst/>
          </a:prstGeom>
        </p:spPr>
      </p:pic>
      <p:sp>
        <p:nvSpPr>
          <p:cNvPr id="4" name="TextBox 3">
            <a:extLst>
              <a:ext uri="{FF2B5EF4-FFF2-40B4-BE49-F238E27FC236}">
                <a16:creationId xmlns:a16="http://schemas.microsoft.com/office/drawing/2014/main" id="{EB0BEA64-8365-377E-985C-B2A89AD4112B}"/>
              </a:ext>
            </a:extLst>
          </p:cNvPr>
          <p:cNvSpPr txBox="1"/>
          <p:nvPr/>
        </p:nvSpPr>
        <p:spPr>
          <a:xfrm>
            <a:off x="35208" y="3337560"/>
            <a:ext cx="3413448" cy="549985"/>
          </a:xfrm>
          <a:prstGeom prst="rect">
            <a:avLst/>
          </a:prstGeom>
          <a:noFill/>
          <a:ln/>
        </p:spPr>
        <p:txBody>
          <a:bodyPr wrap="square" rtlCol="0" anchor="ctr"/>
          <a:lstStyle>
            <a:lvl1pPr indent="0" algn="ctr">
              <a:buNone/>
              <a:defRPr sz="2000" b="1" kern="0" spc="300">
                <a:solidFill>
                  <a:srgbClr val="FFCCAA"/>
                </a:solidFill>
                <a:latin typeface="Georgia" pitchFamily="34" charset="0"/>
                <a:ea typeface="Georgia" pitchFamily="34" charset="-122"/>
                <a:cs typeface="Georgia" pitchFamily="34" charset="-120"/>
              </a:defRPr>
            </a:lvl1pPr>
          </a:lstStyle>
          <a:p>
            <a:r>
              <a:rPr lang="en-US" sz="1200" dirty="0">
                <a:hlinkClick r:id="rId4"/>
              </a:rPr>
              <a:t>https://github.com/citselva/agentic-pawpal-optimizer</a:t>
            </a:r>
            <a:endParaRPr lang="en-US" sz="1200" dirty="0"/>
          </a:p>
        </p:txBody>
      </p:sp>
      <p:sp>
        <p:nvSpPr>
          <p:cNvPr id="33" name="Text 3">
            <a:extLst>
              <a:ext uri="{FF2B5EF4-FFF2-40B4-BE49-F238E27FC236}">
                <a16:creationId xmlns:a16="http://schemas.microsoft.com/office/drawing/2014/main" id="{677E82AD-B756-AF2B-0BEE-E5F370A1A3DF}"/>
              </a:ext>
            </a:extLst>
          </p:cNvPr>
          <p:cNvSpPr/>
          <p:nvPr/>
        </p:nvSpPr>
        <p:spPr>
          <a:xfrm>
            <a:off x="46965" y="3066054"/>
            <a:ext cx="3246120" cy="475488"/>
          </a:xfrm>
          <a:prstGeom prst="rect">
            <a:avLst/>
          </a:prstGeom>
          <a:noFill/>
          <a:ln/>
        </p:spPr>
        <p:txBody>
          <a:bodyPr wrap="square" rtlCol="0" anchor="ctr"/>
          <a:lstStyle/>
          <a:p>
            <a:pPr marL="0" indent="0" algn="ctr">
              <a:buNone/>
            </a:pPr>
            <a:r>
              <a:rPr lang="en-US" sz="1200" b="1" kern="0" spc="300" dirty="0">
                <a:solidFill>
                  <a:srgbClr val="FFFFFF"/>
                </a:solidFill>
                <a:latin typeface="Georgia" pitchFamily="34" charset="0"/>
                <a:ea typeface="Georgia" pitchFamily="34" charset="-122"/>
                <a:cs typeface="Georgia" pitchFamily="34" charset="-120"/>
              </a:rPr>
              <a:t>GitHub Link:</a:t>
            </a:r>
            <a:endParaRPr lang="en-US" sz="1200" dirty="0"/>
          </a:p>
        </p:txBody>
      </p:sp>
      <p:sp>
        <p:nvSpPr>
          <p:cNvPr id="34" name="TextBox 33">
            <a:extLst>
              <a:ext uri="{FF2B5EF4-FFF2-40B4-BE49-F238E27FC236}">
                <a16:creationId xmlns:a16="http://schemas.microsoft.com/office/drawing/2014/main" id="{C19D1AAF-B730-37DF-5D20-F3831A298526}"/>
              </a:ext>
            </a:extLst>
          </p:cNvPr>
          <p:cNvSpPr txBox="1"/>
          <p:nvPr/>
        </p:nvSpPr>
        <p:spPr>
          <a:xfrm>
            <a:off x="7446099" y="4958667"/>
            <a:ext cx="1697901" cy="246221"/>
          </a:xfrm>
          <a:prstGeom prst="rect">
            <a:avLst/>
          </a:prstGeom>
          <a:noFill/>
        </p:spPr>
        <p:txBody>
          <a:bodyPr wrap="square" rtlCol="0">
            <a:spAutoFit/>
          </a:bodyPr>
          <a:lstStyle/>
          <a:p>
            <a:r>
              <a:rPr lang="en-US" sz="1000" dirty="0">
                <a:solidFill>
                  <a:schemeClr val="tx1">
                    <a:lumMod val="50000"/>
                    <a:lumOff val="50000"/>
                  </a:schemeClr>
                </a:solidFill>
              </a:rPr>
              <a:t>Selvakumar Thirumalainambi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1403</Words>
  <Application>Microsoft Office PowerPoint</Application>
  <PresentationFormat>On-screen Show (16:9)</PresentationFormat>
  <Paragraphs>194</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PawPal+ — Agentic Pet Care Schedule Optimizer</dc:title>
  <dc:subject>PptxGenJS Presentation</dc:subject>
  <dc:creator>PawPal+</dc:creator>
  <cp:lastModifiedBy>Selvakumar Thirumalainambi</cp:lastModifiedBy>
  <cp:revision>5</cp:revision>
  <dcterms:created xsi:type="dcterms:W3CDTF">2026-04-26T19:58:33Z</dcterms:created>
  <dcterms:modified xsi:type="dcterms:W3CDTF">2026-04-27T00:27:18Z</dcterms:modified>
</cp:coreProperties>
</file>